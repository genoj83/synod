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CE5EE"/>
          </a:solidFill>
        </a:fill>
      </a:tcStyle>
    </a:wholeTbl>
    <a:band2H>
      <a:tcTxStyle b="def" i="def"/>
      <a:tcStyle>
        <a:tcBdr/>
        <a:fill>
          <a:solidFill>
            <a:srgbClr val="EEF2F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2D7"/>
          </a:solidFill>
        </a:fill>
      </a:tcStyle>
    </a:wholeTbl>
    <a:band2H>
      <a:tcTxStyle b="def" i="def"/>
      <a:tcStyle>
        <a:tcBdr/>
        <a:fill>
          <a:solidFill>
            <a:srgbClr val="F0F1EC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CDADA"/>
          </a:solidFill>
        </a:fill>
      </a:tcStyle>
    </a:wholeTbl>
    <a:band2H>
      <a:tcTxStyle b="def" i="def"/>
      <a:tcStyle>
        <a:tcBdr/>
        <a:fill>
          <a:solidFill>
            <a:srgbClr val="EEEDED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Shape 229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0" name="Shape 230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mailto:info@ucu.ac.ug" TargetMode="External"/><Relationship Id="rId4" Type="http://schemas.openxmlformats.org/officeDocument/2006/relationships/hyperlink" Target="http://www.ucu.ac.ug/" TargetMode="External"/><Relationship Id="rId5" Type="http://schemas.openxmlformats.org/officeDocument/2006/relationships/image" Target="../media/image2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mailto:info@ucu.ac.ug" TargetMode="External"/><Relationship Id="rId4" Type="http://schemas.openxmlformats.org/officeDocument/2006/relationships/hyperlink" Target="http://www.ucu.ac.ug/" TargetMode="External"/><Relationship Id="rId5" Type="http://schemas.openxmlformats.org/officeDocument/2006/relationships/image" Target="../media/image2.png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mailto:info@ucu.ac.ug" TargetMode="External"/><Relationship Id="rId4" Type="http://schemas.openxmlformats.org/officeDocument/2006/relationships/hyperlink" Target="http://www.ucu.ac.ug/" TargetMode="External"/><Relationship Id="rId5" Type="http://schemas.openxmlformats.org/officeDocument/2006/relationships/image" Target="../media/image2.pn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mailto:info@ucu.ac.ug" TargetMode="External"/><Relationship Id="rId4" Type="http://schemas.openxmlformats.org/officeDocument/2006/relationships/hyperlink" Target="http://www.ucu.ac.ug/" TargetMode="External"/><Relationship Id="rId5" Type="http://schemas.openxmlformats.org/officeDocument/2006/relationships/image" Target="../media/image2.png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mailto:info@ucu.ac.ug" TargetMode="External"/><Relationship Id="rId4" Type="http://schemas.openxmlformats.org/officeDocument/2006/relationships/hyperlink" Target="http://www.ucu.ac.ug/" TargetMode="External"/><Relationship Id="rId5" Type="http://schemas.openxmlformats.org/officeDocument/2006/relationships/image" Target="../media/image2.png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mailto:info@ucu.ac.ug" TargetMode="External"/><Relationship Id="rId4" Type="http://schemas.openxmlformats.org/officeDocument/2006/relationships/hyperlink" Target="http://www.ucu.ac.ug/" TargetMode="External"/><Relationship Id="rId5" Type="http://schemas.openxmlformats.org/officeDocument/2006/relationships/image" Target="../media/image2.png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mailto:info@ucu.ac.ug" TargetMode="External"/><Relationship Id="rId4" Type="http://schemas.openxmlformats.org/officeDocument/2006/relationships/hyperlink" Target="http://www.ucu.ac.ug/" TargetMode="External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hyperlink" Target="https://ucu.ac.ug/" TargetMode="External"/><Relationship Id="rId10" Type="http://schemas.openxmlformats.org/officeDocument/2006/relationships/image" Target="../media/image6.png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mailto:info@ucu.ac.ug" TargetMode="External"/><Relationship Id="rId4" Type="http://schemas.openxmlformats.org/officeDocument/2006/relationships/hyperlink" Target="http://www.ucu.ac.ug/" TargetMode="External"/><Relationship Id="rId5" Type="http://schemas.openxmlformats.org/officeDocument/2006/relationships/image" Target="../media/image2.pn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mailto:info@ucu.ac.ug" TargetMode="External"/><Relationship Id="rId4" Type="http://schemas.openxmlformats.org/officeDocument/2006/relationships/hyperlink" Target="http://www.ucu.ac.ug/" TargetMode="External"/><Relationship Id="rId5" Type="http://schemas.openxmlformats.org/officeDocument/2006/relationships/image" Target="../media/image2.png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mailto:info@ucu.ac.ug" TargetMode="External"/><Relationship Id="rId4" Type="http://schemas.openxmlformats.org/officeDocument/2006/relationships/hyperlink" Target="http://www.ucu.ac.ug/" TargetMode="External"/><Relationship Id="rId5" Type="http://schemas.openxmlformats.org/officeDocument/2006/relationships/image" Target="../media/image2.png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mailto:info@ucu.ac.ug" TargetMode="External"/><Relationship Id="rId4" Type="http://schemas.openxmlformats.org/officeDocument/2006/relationships/hyperlink" Target="http://www.ucu.ac.ug/" TargetMode="External"/><Relationship Id="rId5" Type="http://schemas.openxmlformats.org/officeDocument/2006/relationships/image" Target="../media/image2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0;p10" descr="Google Shape;10;p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76790" y="0"/>
            <a:ext cx="2415210" cy="735885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Google Shape;13;p10"/>
          <p:cNvSpPr/>
          <p:nvPr/>
        </p:nvSpPr>
        <p:spPr>
          <a:xfrm>
            <a:off x="838200" y="1508125"/>
            <a:ext cx="11353800" cy="179388"/>
          </a:xfrm>
          <a:prstGeom prst="rect">
            <a:avLst/>
          </a:prstGeom>
          <a:solidFill>
            <a:srgbClr val="0B3D9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20" name="Google Shape;14;p10"/>
          <p:cNvSpPr/>
          <p:nvPr/>
        </p:nvSpPr>
        <p:spPr>
          <a:xfrm>
            <a:off x="0" y="1508125"/>
            <a:ext cx="838200" cy="179388"/>
          </a:xfrm>
          <a:prstGeom prst="rect">
            <a:avLst/>
          </a:prstGeom>
          <a:solidFill>
            <a:srgbClr val="D7014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21" name="Google Shape;15;p10"/>
          <p:cNvSpPr/>
          <p:nvPr/>
        </p:nvSpPr>
        <p:spPr>
          <a:xfrm>
            <a:off x="838200" y="1508124"/>
            <a:ext cx="838200" cy="179389"/>
          </a:xfrm>
          <a:prstGeom prst="rect">
            <a:avLst/>
          </a:prstGeom>
          <a:solidFill>
            <a:srgbClr val="FFD93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22" name="Google Shape;18;p10"/>
          <p:cNvSpPr txBox="1"/>
          <p:nvPr/>
        </p:nvSpPr>
        <p:spPr>
          <a:xfrm>
            <a:off x="2162624" y="6356349"/>
            <a:ext cx="7425979" cy="42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 algn="ctr">
              <a:defRPr b="1" sz="800">
                <a:solidFill>
                  <a:srgbClr val="0B3D91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A Complete Education for A Complete Person</a:t>
            </a:r>
            <a:br/>
            <a:r>
              <a:rPr b="0" sz="700">
                <a:solidFill>
                  <a:srgbClr val="000000"/>
                </a:solidFill>
              </a:rPr>
              <a:t>P.O. Box 4, Mukono, Uganda, Plot 67-173, Bishop Tucker Road, Mukono Hill | Tel: +256 (0) 312 350 800 Email: </a:t>
            </a:r>
            <a:r>
              <a:rPr b="0" sz="700" u="sng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hlinkClick r:id="rId3" invalidUrl="" action="" tgtFrame="" tooltip="" history="1" highlightClick="0" endSnd="0"/>
              </a:rPr>
              <a:t>info@ucu.ac.ug</a:t>
            </a:r>
            <a:r>
              <a:rPr b="0" sz="700">
                <a:solidFill>
                  <a:srgbClr val="0000FF"/>
                </a:solidFill>
              </a:rPr>
              <a:t> </a:t>
            </a:r>
            <a:r>
              <a:rPr b="0" sz="700">
                <a:solidFill>
                  <a:srgbClr val="000000"/>
                </a:solidFill>
              </a:rPr>
              <a:t>Web: </a:t>
            </a:r>
            <a:r>
              <a:rPr b="0" sz="700" u="sng">
                <a:solidFill>
                  <a:srgbClr val="0000FF"/>
                </a:solidFill>
              </a:rPr>
              <a:t>https://</a:t>
            </a:r>
            <a:r>
              <a:rPr b="0" sz="700" u="sng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hlinkClick r:id="rId4" invalidUrl="" action="" tgtFrame="" tooltip="" history="1" highlightClick="0" endSnd="0"/>
              </a:rPr>
              <a:t>ucu.ac.ug</a:t>
            </a:r>
            <a:endParaRPr sz="700" u="sng">
              <a:solidFill>
                <a:srgbClr val="0000FF"/>
              </a:solidFill>
            </a:endParaRPr>
          </a:p>
          <a:p>
            <a:pPr algn="ctr">
              <a:defRPr sz="60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Founded by the Province of the Church of Uganda. Chartered by the Government of Uganda</a:t>
            </a:r>
          </a:p>
        </p:txBody>
      </p:sp>
      <p:sp>
        <p:nvSpPr>
          <p:cNvPr id="23" name="Google Shape;19;p10"/>
          <p:cNvSpPr/>
          <p:nvPr/>
        </p:nvSpPr>
        <p:spPr>
          <a:xfrm>
            <a:off x="0" y="6395027"/>
            <a:ext cx="12192001" cy="1"/>
          </a:xfrm>
          <a:prstGeom prst="line">
            <a:avLst/>
          </a:prstGeom>
          <a:ln w="12700">
            <a:solidFill>
              <a:srgbClr val="D70167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24" name="Google Shape;20;p10" descr="Google Shape;20;p10"/>
          <p:cNvPicPr>
            <a:picLocks noChangeAspect="1"/>
          </p:cNvPicPr>
          <p:nvPr/>
        </p:nvPicPr>
        <p:blipFill>
          <a:blip r:embed="rId5">
            <a:extLst/>
          </a:blip>
          <a:srcRect l="0" t="0" r="0" b="42643"/>
          <a:stretch>
            <a:fillRect/>
          </a:stretch>
        </p:blipFill>
        <p:spPr>
          <a:xfrm>
            <a:off x="0" y="5412966"/>
            <a:ext cx="1162290" cy="1445034"/>
          </a:xfrm>
          <a:prstGeom prst="rect">
            <a:avLst/>
          </a:prstGeom>
          <a:ln w="12700">
            <a:miter lim="400000"/>
          </a:ln>
        </p:spPr>
      </p:pic>
      <p:sp>
        <p:nvSpPr>
          <p:cNvPr id="25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26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406400" indent="-355600" algn="ctr">
              <a:buClrTx/>
              <a:buSzTx/>
              <a:buFontTx/>
              <a:buNone/>
              <a:defRPr sz="2400"/>
            </a:lvl1pPr>
            <a:lvl2pPr marL="406400" indent="134619" algn="ctr">
              <a:buClrTx/>
              <a:buSzTx/>
              <a:buFontTx/>
              <a:buNone/>
              <a:defRPr sz="2400"/>
            </a:lvl2pPr>
            <a:lvl3pPr marL="406400" indent="622300" algn="ctr">
              <a:buClrTx/>
              <a:buSzTx/>
              <a:buFontTx/>
              <a:buNone/>
              <a:defRPr sz="2400"/>
            </a:lvl3pPr>
            <a:lvl4pPr marL="406400" indent="1093216" algn="ctr">
              <a:buClrTx/>
              <a:buSzTx/>
              <a:buFontTx/>
              <a:buNone/>
              <a:defRPr sz="2400"/>
            </a:lvl4pPr>
            <a:lvl5pPr marL="406400" indent="1552701" algn="ctr">
              <a:buClrTx/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5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10;p10" descr="Google Shape;10;p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76790" y="0"/>
            <a:ext cx="2415210" cy="735885"/>
          </a:xfrm>
          <a:prstGeom prst="rect">
            <a:avLst/>
          </a:prstGeom>
          <a:ln w="12700">
            <a:miter lim="400000"/>
          </a:ln>
        </p:spPr>
      </p:pic>
      <p:sp>
        <p:nvSpPr>
          <p:cNvPr id="44" name="Google Shape;13;p10"/>
          <p:cNvSpPr/>
          <p:nvPr/>
        </p:nvSpPr>
        <p:spPr>
          <a:xfrm>
            <a:off x="838200" y="1508125"/>
            <a:ext cx="11353800" cy="179388"/>
          </a:xfrm>
          <a:prstGeom prst="rect">
            <a:avLst/>
          </a:prstGeom>
          <a:solidFill>
            <a:srgbClr val="0B3D9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45" name="Google Shape;14;p10"/>
          <p:cNvSpPr/>
          <p:nvPr/>
        </p:nvSpPr>
        <p:spPr>
          <a:xfrm>
            <a:off x="0" y="1508125"/>
            <a:ext cx="838200" cy="179388"/>
          </a:xfrm>
          <a:prstGeom prst="rect">
            <a:avLst/>
          </a:prstGeom>
          <a:solidFill>
            <a:srgbClr val="D7014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46" name="Google Shape;15;p10"/>
          <p:cNvSpPr/>
          <p:nvPr/>
        </p:nvSpPr>
        <p:spPr>
          <a:xfrm>
            <a:off x="838200" y="1508124"/>
            <a:ext cx="838200" cy="179389"/>
          </a:xfrm>
          <a:prstGeom prst="rect">
            <a:avLst/>
          </a:prstGeom>
          <a:solidFill>
            <a:srgbClr val="FFD93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47" name="Google Shape;18;p10"/>
          <p:cNvSpPr txBox="1"/>
          <p:nvPr/>
        </p:nvSpPr>
        <p:spPr>
          <a:xfrm>
            <a:off x="2162624" y="6356349"/>
            <a:ext cx="7425979" cy="42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 algn="ctr">
              <a:defRPr b="1" sz="800">
                <a:solidFill>
                  <a:srgbClr val="0B3D91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A Complete Education for A Complete Person</a:t>
            </a:r>
            <a:br/>
            <a:r>
              <a:rPr b="0" sz="700">
                <a:solidFill>
                  <a:srgbClr val="000000"/>
                </a:solidFill>
              </a:rPr>
              <a:t>P.O. Box 4, Mukono, Uganda, Plot 67-173, Bishop Tucker Road, Mukono Hill | Tel: +256 (0) 312 350 800 Email: </a:t>
            </a:r>
            <a:r>
              <a:rPr b="0" sz="700" u="sng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hlinkClick r:id="rId3" invalidUrl="" action="" tgtFrame="" tooltip="" history="1" highlightClick="0" endSnd="0"/>
              </a:rPr>
              <a:t>info@ucu.ac.ug</a:t>
            </a:r>
            <a:r>
              <a:rPr b="0" sz="700">
                <a:solidFill>
                  <a:srgbClr val="0000FF"/>
                </a:solidFill>
              </a:rPr>
              <a:t> </a:t>
            </a:r>
            <a:r>
              <a:rPr b="0" sz="700">
                <a:solidFill>
                  <a:srgbClr val="000000"/>
                </a:solidFill>
              </a:rPr>
              <a:t>Web: </a:t>
            </a:r>
            <a:r>
              <a:rPr b="0" sz="700" u="sng">
                <a:solidFill>
                  <a:srgbClr val="0000FF"/>
                </a:solidFill>
              </a:rPr>
              <a:t>https://</a:t>
            </a:r>
            <a:r>
              <a:rPr b="0" sz="700" u="sng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hlinkClick r:id="rId4" invalidUrl="" action="" tgtFrame="" tooltip="" history="1" highlightClick="0" endSnd="0"/>
              </a:rPr>
              <a:t>ucu.ac.ug</a:t>
            </a:r>
            <a:endParaRPr sz="700" u="sng">
              <a:solidFill>
                <a:srgbClr val="0000FF"/>
              </a:solidFill>
            </a:endParaRPr>
          </a:p>
          <a:p>
            <a:pPr algn="ctr">
              <a:defRPr sz="60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Founded by the Province of the Church of Uganda. Chartered by the Government of Uganda</a:t>
            </a:r>
          </a:p>
        </p:txBody>
      </p:sp>
      <p:sp>
        <p:nvSpPr>
          <p:cNvPr id="48" name="Google Shape;19;p10"/>
          <p:cNvSpPr/>
          <p:nvPr/>
        </p:nvSpPr>
        <p:spPr>
          <a:xfrm>
            <a:off x="0" y="6395027"/>
            <a:ext cx="12192001" cy="1"/>
          </a:xfrm>
          <a:prstGeom prst="line">
            <a:avLst/>
          </a:prstGeom>
          <a:ln w="12700">
            <a:solidFill>
              <a:srgbClr val="D70167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49" name="Google Shape;20;p10" descr="Google Shape;20;p10"/>
          <p:cNvPicPr>
            <a:picLocks noChangeAspect="1"/>
          </p:cNvPicPr>
          <p:nvPr/>
        </p:nvPicPr>
        <p:blipFill>
          <a:blip r:embed="rId5">
            <a:extLst/>
          </a:blip>
          <a:srcRect l="0" t="0" r="0" b="42643"/>
          <a:stretch>
            <a:fillRect/>
          </a:stretch>
        </p:blipFill>
        <p:spPr>
          <a:xfrm>
            <a:off x="0" y="5412966"/>
            <a:ext cx="1162290" cy="1445034"/>
          </a:xfrm>
          <a:prstGeom prst="rect">
            <a:avLst/>
          </a:prstGeom>
          <a:ln w="12700">
            <a:miter lim="400000"/>
          </a:ln>
        </p:spPr>
      </p:pic>
      <p:sp>
        <p:nvSpPr>
          <p:cNvPr id="5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1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2" name="Google Shape;37;p13"/>
          <p:cNvSpPr txBox="1"/>
          <p:nvPr>
            <p:ph type="body" sz="half" idx="2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10;p10" descr="Google Shape;10;p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76790" y="0"/>
            <a:ext cx="2415210" cy="735885"/>
          </a:xfrm>
          <a:prstGeom prst="rect">
            <a:avLst/>
          </a:prstGeom>
          <a:ln w="12700">
            <a:miter lim="400000"/>
          </a:ln>
        </p:spPr>
      </p:pic>
      <p:sp>
        <p:nvSpPr>
          <p:cNvPr id="61" name="Google Shape;13;p10"/>
          <p:cNvSpPr/>
          <p:nvPr/>
        </p:nvSpPr>
        <p:spPr>
          <a:xfrm>
            <a:off x="838200" y="1508125"/>
            <a:ext cx="11353800" cy="179388"/>
          </a:xfrm>
          <a:prstGeom prst="rect">
            <a:avLst/>
          </a:prstGeom>
          <a:solidFill>
            <a:srgbClr val="0B3D9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62" name="Google Shape;14;p10"/>
          <p:cNvSpPr/>
          <p:nvPr/>
        </p:nvSpPr>
        <p:spPr>
          <a:xfrm>
            <a:off x="0" y="1508125"/>
            <a:ext cx="838200" cy="179388"/>
          </a:xfrm>
          <a:prstGeom prst="rect">
            <a:avLst/>
          </a:prstGeom>
          <a:solidFill>
            <a:srgbClr val="D7014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63" name="Google Shape;15;p10"/>
          <p:cNvSpPr/>
          <p:nvPr/>
        </p:nvSpPr>
        <p:spPr>
          <a:xfrm>
            <a:off x="838200" y="1508124"/>
            <a:ext cx="838200" cy="179389"/>
          </a:xfrm>
          <a:prstGeom prst="rect">
            <a:avLst/>
          </a:prstGeom>
          <a:solidFill>
            <a:srgbClr val="FFD93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64" name="Google Shape;18;p10"/>
          <p:cNvSpPr txBox="1"/>
          <p:nvPr/>
        </p:nvSpPr>
        <p:spPr>
          <a:xfrm>
            <a:off x="2162624" y="6356349"/>
            <a:ext cx="7425979" cy="42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 algn="ctr">
              <a:defRPr b="1" sz="800">
                <a:solidFill>
                  <a:srgbClr val="0B3D91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A Complete Education for A Complete Person</a:t>
            </a:r>
            <a:br/>
            <a:r>
              <a:rPr b="0" sz="700">
                <a:solidFill>
                  <a:srgbClr val="000000"/>
                </a:solidFill>
              </a:rPr>
              <a:t>P.O. Box 4, Mukono, Uganda, Plot 67-173, Bishop Tucker Road, Mukono Hill | Tel: +256 (0) 312 350 800 Email: </a:t>
            </a:r>
            <a:r>
              <a:rPr b="0" sz="700" u="sng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hlinkClick r:id="rId3" invalidUrl="" action="" tgtFrame="" tooltip="" history="1" highlightClick="0" endSnd="0"/>
              </a:rPr>
              <a:t>info@ucu.ac.ug</a:t>
            </a:r>
            <a:r>
              <a:rPr b="0" sz="700">
                <a:solidFill>
                  <a:srgbClr val="0000FF"/>
                </a:solidFill>
              </a:rPr>
              <a:t> </a:t>
            </a:r>
            <a:r>
              <a:rPr b="0" sz="700">
                <a:solidFill>
                  <a:srgbClr val="000000"/>
                </a:solidFill>
              </a:rPr>
              <a:t>Web: </a:t>
            </a:r>
            <a:r>
              <a:rPr b="0" sz="700" u="sng">
                <a:solidFill>
                  <a:srgbClr val="0000FF"/>
                </a:solidFill>
              </a:rPr>
              <a:t>https://</a:t>
            </a:r>
            <a:r>
              <a:rPr b="0" sz="700" u="sng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hlinkClick r:id="rId4" invalidUrl="" action="" tgtFrame="" tooltip="" history="1" highlightClick="0" endSnd="0"/>
              </a:rPr>
              <a:t>ucu.ac.ug</a:t>
            </a:r>
            <a:endParaRPr sz="700" u="sng">
              <a:solidFill>
                <a:srgbClr val="0000FF"/>
              </a:solidFill>
            </a:endParaRPr>
          </a:p>
          <a:p>
            <a:pPr algn="ctr">
              <a:defRPr sz="60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Founded by the Province of the Church of Uganda. Chartered by the Government of Uganda</a:t>
            </a:r>
          </a:p>
        </p:txBody>
      </p:sp>
      <p:sp>
        <p:nvSpPr>
          <p:cNvPr id="65" name="Google Shape;19;p10"/>
          <p:cNvSpPr/>
          <p:nvPr/>
        </p:nvSpPr>
        <p:spPr>
          <a:xfrm>
            <a:off x="0" y="6395027"/>
            <a:ext cx="12192001" cy="1"/>
          </a:xfrm>
          <a:prstGeom prst="line">
            <a:avLst/>
          </a:prstGeom>
          <a:ln w="12700">
            <a:solidFill>
              <a:srgbClr val="D70167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66" name="Google Shape;20;p10" descr="Google Shape;20;p10"/>
          <p:cNvPicPr>
            <a:picLocks noChangeAspect="1"/>
          </p:cNvPicPr>
          <p:nvPr/>
        </p:nvPicPr>
        <p:blipFill>
          <a:blip r:embed="rId5">
            <a:extLst/>
          </a:blip>
          <a:srcRect l="0" t="0" r="0" b="42643"/>
          <a:stretch>
            <a:fillRect/>
          </a:stretch>
        </p:blipFill>
        <p:spPr>
          <a:xfrm>
            <a:off x="0" y="5412966"/>
            <a:ext cx="1162290" cy="1445034"/>
          </a:xfrm>
          <a:prstGeom prst="rect">
            <a:avLst/>
          </a:prstGeom>
          <a:ln w="12700">
            <a:miter lim="400000"/>
          </a:ln>
        </p:spPr>
      </p:pic>
      <p:sp>
        <p:nvSpPr>
          <p:cNvPr id="67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8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  <a:solidFill>
            <a:srgbClr val="D7014D"/>
          </a:solidFill>
        </p:spPr>
        <p:txBody>
          <a:bodyPr anchor="b"/>
          <a:lstStyle>
            <a:lvl1pPr marL="228600" indent="0">
              <a:buClrTx/>
              <a:buSzTx/>
              <a:buFontTx/>
              <a:buNone/>
              <a:defRPr b="1" sz="2400">
                <a:solidFill>
                  <a:srgbClr val="FFFFFF"/>
                </a:solidFill>
              </a:defRPr>
            </a:lvl1pPr>
            <a:lvl2pPr marL="228600" indent="457200">
              <a:buClrTx/>
              <a:buSzTx/>
              <a:buFontTx/>
              <a:buNone/>
              <a:defRPr b="1" sz="2400">
                <a:solidFill>
                  <a:srgbClr val="FFFFFF"/>
                </a:solidFill>
              </a:defRPr>
            </a:lvl2pPr>
            <a:lvl3pPr marL="228600" indent="914400">
              <a:buClrTx/>
              <a:buSzTx/>
              <a:buFontTx/>
              <a:buNone/>
              <a:defRPr b="1" sz="2400">
                <a:solidFill>
                  <a:srgbClr val="FFFFFF"/>
                </a:solidFill>
              </a:defRPr>
            </a:lvl3pPr>
            <a:lvl4pPr marL="228600" indent="1371600">
              <a:buClrTx/>
              <a:buSzTx/>
              <a:buFontTx/>
              <a:buNone/>
              <a:defRPr b="1" sz="2400">
                <a:solidFill>
                  <a:srgbClr val="FFFFFF"/>
                </a:solidFill>
              </a:defRPr>
            </a:lvl4pPr>
            <a:lvl5pPr marL="228600" indent="1828800">
              <a:buClrTx/>
              <a:buSzTx/>
              <a:buFontTx/>
              <a:buNone/>
              <a:defRPr b="1" sz="2400">
                <a:solidFill>
                  <a:srgbClr val="FFFFFF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9" name="Google Shape;44;p14"/>
          <p:cNvSpPr txBox="1"/>
          <p:nvPr>
            <p:ph type="body" sz="half" idx="21"/>
          </p:nvPr>
        </p:nvSpPr>
        <p:spPr>
          <a:xfrm>
            <a:off x="839787" y="2505075"/>
            <a:ext cx="5157789" cy="3684588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0" name="Google Shape;45;p14"/>
          <p:cNvSpPr txBox="1"/>
          <p:nvPr>
            <p:ph type="body" sz="quarter" idx="22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  <a:solidFill>
            <a:srgbClr val="FFD932"/>
          </a:solidFill>
        </p:spPr>
        <p:txBody>
          <a:bodyPr anchor="b"/>
          <a:lstStyle/>
          <a:p>
            <a:pPr marL="228600" indent="0">
              <a:buClrTx/>
              <a:buSzTx/>
              <a:buFontTx/>
              <a:buNone/>
              <a:defRPr b="1" sz="2400">
                <a:solidFill>
                  <a:srgbClr val="FFFFFF"/>
                </a:solidFill>
              </a:defRPr>
            </a:pPr>
          </a:p>
        </p:txBody>
      </p:sp>
      <p:sp>
        <p:nvSpPr>
          <p:cNvPr id="71" name="Google Shape;46;p14"/>
          <p:cNvSpPr txBox="1"/>
          <p:nvPr>
            <p:ph type="body" sz="half" idx="23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10;p10" descr="Google Shape;10;p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76790" y="0"/>
            <a:ext cx="2415210" cy="735885"/>
          </a:xfrm>
          <a:prstGeom prst="rect">
            <a:avLst/>
          </a:prstGeom>
          <a:ln w="12700">
            <a:miter lim="400000"/>
          </a:ln>
        </p:spPr>
      </p:pic>
      <p:sp>
        <p:nvSpPr>
          <p:cNvPr id="80" name="Google Shape;13;p10"/>
          <p:cNvSpPr/>
          <p:nvPr/>
        </p:nvSpPr>
        <p:spPr>
          <a:xfrm>
            <a:off x="838200" y="1508125"/>
            <a:ext cx="11353800" cy="179388"/>
          </a:xfrm>
          <a:prstGeom prst="rect">
            <a:avLst/>
          </a:prstGeom>
          <a:solidFill>
            <a:srgbClr val="0B3D9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81" name="Google Shape;14;p10"/>
          <p:cNvSpPr/>
          <p:nvPr/>
        </p:nvSpPr>
        <p:spPr>
          <a:xfrm>
            <a:off x="0" y="1508125"/>
            <a:ext cx="838200" cy="179388"/>
          </a:xfrm>
          <a:prstGeom prst="rect">
            <a:avLst/>
          </a:prstGeom>
          <a:solidFill>
            <a:srgbClr val="D7014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82" name="Google Shape;15;p10"/>
          <p:cNvSpPr/>
          <p:nvPr/>
        </p:nvSpPr>
        <p:spPr>
          <a:xfrm>
            <a:off x="838200" y="1508124"/>
            <a:ext cx="838200" cy="179389"/>
          </a:xfrm>
          <a:prstGeom prst="rect">
            <a:avLst/>
          </a:prstGeom>
          <a:solidFill>
            <a:srgbClr val="FFD93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83" name="Google Shape;18;p10"/>
          <p:cNvSpPr txBox="1"/>
          <p:nvPr/>
        </p:nvSpPr>
        <p:spPr>
          <a:xfrm>
            <a:off x="2162624" y="6356349"/>
            <a:ext cx="7425979" cy="42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 algn="ctr">
              <a:defRPr b="1" sz="800">
                <a:solidFill>
                  <a:srgbClr val="0B3D91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A Complete Education for A Complete Person</a:t>
            </a:r>
            <a:br/>
            <a:r>
              <a:rPr b="0" sz="700">
                <a:solidFill>
                  <a:srgbClr val="000000"/>
                </a:solidFill>
              </a:rPr>
              <a:t>P.O. Box 4, Mukono, Uganda, Plot 67-173, Bishop Tucker Road, Mukono Hill | Tel: +256 (0) 312 350 800 Email: </a:t>
            </a:r>
            <a:r>
              <a:rPr b="0" sz="700" u="sng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hlinkClick r:id="rId3" invalidUrl="" action="" tgtFrame="" tooltip="" history="1" highlightClick="0" endSnd="0"/>
              </a:rPr>
              <a:t>info@ucu.ac.ug</a:t>
            </a:r>
            <a:r>
              <a:rPr b="0" sz="700">
                <a:solidFill>
                  <a:srgbClr val="0000FF"/>
                </a:solidFill>
              </a:rPr>
              <a:t> </a:t>
            </a:r>
            <a:r>
              <a:rPr b="0" sz="700">
                <a:solidFill>
                  <a:srgbClr val="000000"/>
                </a:solidFill>
              </a:rPr>
              <a:t>Web: </a:t>
            </a:r>
            <a:r>
              <a:rPr b="0" sz="700" u="sng">
                <a:solidFill>
                  <a:srgbClr val="0000FF"/>
                </a:solidFill>
              </a:rPr>
              <a:t>https://</a:t>
            </a:r>
            <a:r>
              <a:rPr b="0" sz="700" u="sng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hlinkClick r:id="rId4" invalidUrl="" action="" tgtFrame="" tooltip="" history="1" highlightClick="0" endSnd="0"/>
              </a:rPr>
              <a:t>ucu.ac.ug</a:t>
            </a:r>
            <a:endParaRPr sz="700" u="sng">
              <a:solidFill>
                <a:srgbClr val="0000FF"/>
              </a:solidFill>
            </a:endParaRPr>
          </a:p>
          <a:p>
            <a:pPr algn="ctr">
              <a:defRPr sz="60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Founded by the Province of the Church of Uganda. Chartered by the Government of Uganda</a:t>
            </a:r>
          </a:p>
        </p:txBody>
      </p:sp>
      <p:sp>
        <p:nvSpPr>
          <p:cNvPr id="84" name="Google Shape;19;p10"/>
          <p:cNvSpPr/>
          <p:nvPr/>
        </p:nvSpPr>
        <p:spPr>
          <a:xfrm>
            <a:off x="0" y="6395027"/>
            <a:ext cx="12192001" cy="1"/>
          </a:xfrm>
          <a:prstGeom prst="line">
            <a:avLst/>
          </a:prstGeom>
          <a:ln w="12700">
            <a:solidFill>
              <a:srgbClr val="D70167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85" name="Google Shape;20;p10" descr="Google Shape;20;p10"/>
          <p:cNvPicPr>
            <a:picLocks noChangeAspect="1"/>
          </p:cNvPicPr>
          <p:nvPr/>
        </p:nvPicPr>
        <p:blipFill>
          <a:blip r:embed="rId5">
            <a:extLst/>
          </a:blip>
          <a:srcRect l="0" t="0" r="0" b="42643"/>
          <a:stretch>
            <a:fillRect/>
          </a:stretch>
        </p:blipFill>
        <p:spPr>
          <a:xfrm>
            <a:off x="0" y="5412966"/>
            <a:ext cx="1162290" cy="1445034"/>
          </a:xfrm>
          <a:prstGeom prst="rect">
            <a:avLst/>
          </a:prstGeom>
          <a:ln w="12700">
            <a:miter lim="400000"/>
          </a:ln>
        </p:spPr>
      </p:pic>
      <p:sp>
        <p:nvSpPr>
          <p:cNvPr id="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10;p10" descr="Google Shape;10;p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76790" y="0"/>
            <a:ext cx="2415210" cy="735885"/>
          </a:xfrm>
          <a:prstGeom prst="rect">
            <a:avLst/>
          </a:prstGeom>
          <a:ln w="12700">
            <a:miter lim="400000"/>
          </a:ln>
        </p:spPr>
      </p:pic>
      <p:sp>
        <p:nvSpPr>
          <p:cNvPr id="94" name="Google Shape;13;p10"/>
          <p:cNvSpPr/>
          <p:nvPr/>
        </p:nvSpPr>
        <p:spPr>
          <a:xfrm>
            <a:off x="838200" y="1508125"/>
            <a:ext cx="11353800" cy="179388"/>
          </a:xfrm>
          <a:prstGeom prst="rect">
            <a:avLst/>
          </a:prstGeom>
          <a:solidFill>
            <a:srgbClr val="0B3D9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95" name="Google Shape;14;p10"/>
          <p:cNvSpPr/>
          <p:nvPr/>
        </p:nvSpPr>
        <p:spPr>
          <a:xfrm>
            <a:off x="0" y="1508125"/>
            <a:ext cx="838200" cy="179388"/>
          </a:xfrm>
          <a:prstGeom prst="rect">
            <a:avLst/>
          </a:prstGeom>
          <a:solidFill>
            <a:srgbClr val="D7014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96" name="Google Shape;15;p10"/>
          <p:cNvSpPr/>
          <p:nvPr/>
        </p:nvSpPr>
        <p:spPr>
          <a:xfrm>
            <a:off x="838200" y="1508124"/>
            <a:ext cx="838200" cy="179389"/>
          </a:xfrm>
          <a:prstGeom prst="rect">
            <a:avLst/>
          </a:prstGeom>
          <a:solidFill>
            <a:srgbClr val="FFD93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97" name="Google Shape;18;p10"/>
          <p:cNvSpPr txBox="1"/>
          <p:nvPr/>
        </p:nvSpPr>
        <p:spPr>
          <a:xfrm>
            <a:off x="2162624" y="6356349"/>
            <a:ext cx="7425979" cy="42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 algn="ctr">
              <a:defRPr b="1" sz="800">
                <a:solidFill>
                  <a:srgbClr val="0B3D91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A Complete Education for A Complete Person</a:t>
            </a:r>
            <a:br/>
            <a:r>
              <a:rPr b="0" sz="700">
                <a:solidFill>
                  <a:srgbClr val="000000"/>
                </a:solidFill>
              </a:rPr>
              <a:t>P.O. Box 4, Mukono, Uganda, Plot 67-173, Bishop Tucker Road, Mukono Hill | Tel: +256 (0) 312 350 800 Email: </a:t>
            </a:r>
            <a:r>
              <a:rPr b="0" sz="700" u="sng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hlinkClick r:id="rId3" invalidUrl="" action="" tgtFrame="" tooltip="" history="1" highlightClick="0" endSnd="0"/>
              </a:rPr>
              <a:t>info@ucu.ac.ug</a:t>
            </a:r>
            <a:r>
              <a:rPr b="0" sz="700">
                <a:solidFill>
                  <a:srgbClr val="0000FF"/>
                </a:solidFill>
              </a:rPr>
              <a:t> </a:t>
            </a:r>
            <a:r>
              <a:rPr b="0" sz="700">
                <a:solidFill>
                  <a:srgbClr val="000000"/>
                </a:solidFill>
              </a:rPr>
              <a:t>Web: </a:t>
            </a:r>
            <a:r>
              <a:rPr b="0" sz="700" u="sng">
                <a:solidFill>
                  <a:srgbClr val="0000FF"/>
                </a:solidFill>
              </a:rPr>
              <a:t>https://</a:t>
            </a:r>
            <a:r>
              <a:rPr b="0" sz="700" u="sng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hlinkClick r:id="rId4" invalidUrl="" action="" tgtFrame="" tooltip="" history="1" highlightClick="0" endSnd="0"/>
              </a:rPr>
              <a:t>ucu.ac.ug</a:t>
            </a:r>
            <a:endParaRPr sz="700" u="sng">
              <a:solidFill>
                <a:srgbClr val="0000FF"/>
              </a:solidFill>
            </a:endParaRPr>
          </a:p>
          <a:p>
            <a:pPr algn="ctr">
              <a:defRPr sz="60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Founded by the Province of the Church of Uganda. Chartered by the Government of Uganda</a:t>
            </a:r>
          </a:p>
        </p:txBody>
      </p:sp>
      <p:sp>
        <p:nvSpPr>
          <p:cNvPr id="98" name="Google Shape;19;p10"/>
          <p:cNvSpPr/>
          <p:nvPr/>
        </p:nvSpPr>
        <p:spPr>
          <a:xfrm>
            <a:off x="0" y="6395027"/>
            <a:ext cx="12192001" cy="1"/>
          </a:xfrm>
          <a:prstGeom prst="line">
            <a:avLst/>
          </a:prstGeom>
          <a:ln w="12700">
            <a:solidFill>
              <a:srgbClr val="D70167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99" name="Google Shape;20;p10" descr="Google Shape;20;p10"/>
          <p:cNvPicPr>
            <a:picLocks noChangeAspect="1"/>
          </p:cNvPicPr>
          <p:nvPr/>
        </p:nvPicPr>
        <p:blipFill>
          <a:blip r:embed="rId5">
            <a:extLst/>
          </a:blip>
          <a:srcRect l="0" t="0" r="0" b="42643"/>
          <a:stretch>
            <a:fillRect/>
          </a:stretch>
        </p:blipFill>
        <p:spPr>
          <a:xfrm>
            <a:off x="0" y="5412966"/>
            <a:ext cx="1162290" cy="1445034"/>
          </a:xfrm>
          <a:prstGeom prst="rect">
            <a:avLst/>
          </a:prstGeom>
          <a:ln w="12700">
            <a:miter lim="400000"/>
          </a:ln>
        </p:spPr>
      </p:pic>
      <p:sp>
        <p:nvSpPr>
          <p:cNvPr id="100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101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 indent="-431800">
              <a:buSzPts val="3200"/>
              <a:defRPr sz="3200"/>
            </a:lvl1pPr>
            <a:lvl2pPr marL="971187" indent="-454297">
              <a:buSzPts val="3200"/>
              <a:defRPr sz="3200"/>
            </a:lvl2pPr>
            <a:lvl3pPr marL="1493520" indent="-487680">
              <a:buSzPts val="3200"/>
              <a:defRPr sz="3200"/>
            </a:lvl3pPr>
            <a:lvl4pPr marL="2033016" indent="-544576">
              <a:buSzPts val="3200"/>
              <a:defRPr sz="3200"/>
            </a:lvl4pPr>
            <a:lvl5pPr marL="2488692" indent="-540512">
              <a:buSzPts val="3200"/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2" name="Google Shape;57;p16"/>
          <p:cNvSpPr txBox="1"/>
          <p:nvPr>
            <p:ph type="body" sz="quarter" idx="2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/>
          <a:p>
            <a:pPr marL="228600" indent="0">
              <a:buClrTx/>
              <a:buSzTx/>
              <a:buFontTx/>
              <a:buNone/>
              <a:defRPr sz="1600"/>
            </a:pPr>
          </a:p>
        </p:txBody>
      </p:sp>
      <p:sp>
        <p:nvSpPr>
          <p:cNvPr id="10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0;p10" descr="Google Shape;10;p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76790" y="0"/>
            <a:ext cx="2415210" cy="735885"/>
          </a:xfrm>
          <a:prstGeom prst="rect">
            <a:avLst/>
          </a:prstGeom>
          <a:ln w="12700">
            <a:miter lim="400000"/>
          </a:ln>
        </p:spPr>
      </p:pic>
      <p:sp>
        <p:nvSpPr>
          <p:cNvPr id="111" name="Google Shape;13;p10"/>
          <p:cNvSpPr/>
          <p:nvPr/>
        </p:nvSpPr>
        <p:spPr>
          <a:xfrm>
            <a:off x="838200" y="1508125"/>
            <a:ext cx="11353800" cy="179388"/>
          </a:xfrm>
          <a:prstGeom prst="rect">
            <a:avLst/>
          </a:prstGeom>
          <a:solidFill>
            <a:srgbClr val="0B3D9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112" name="Google Shape;14;p10"/>
          <p:cNvSpPr/>
          <p:nvPr/>
        </p:nvSpPr>
        <p:spPr>
          <a:xfrm>
            <a:off x="0" y="1508125"/>
            <a:ext cx="838200" cy="179388"/>
          </a:xfrm>
          <a:prstGeom prst="rect">
            <a:avLst/>
          </a:prstGeom>
          <a:solidFill>
            <a:srgbClr val="D7014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113" name="Google Shape;15;p10"/>
          <p:cNvSpPr/>
          <p:nvPr/>
        </p:nvSpPr>
        <p:spPr>
          <a:xfrm>
            <a:off x="838200" y="1508124"/>
            <a:ext cx="838200" cy="179389"/>
          </a:xfrm>
          <a:prstGeom prst="rect">
            <a:avLst/>
          </a:prstGeom>
          <a:solidFill>
            <a:srgbClr val="FFD93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114" name="Google Shape;18;p10"/>
          <p:cNvSpPr txBox="1"/>
          <p:nvPr/>
        </p:nvSpPr>
        <p:spPr>
          <a:xfrm>
            <a:off x="2162624" y="6356349"/>
            <a:ext cx="7425979" cy="42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 algn="ctr">
              <a:defRPr b="1" sz="800">
                <a:solidFill>
                  <a:srgbClr val="0B3D91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A Complete Education for A Complete Person</a:t>
            </a:r>
            <a:br/>
            <a:r>
              <a:rPr b="0" sz="700">
                <a:solidFill>
                  <a:srgbClr val="000000"/>
                </a:solidFill>
              </a:rPr>
              <a:t>P.O. Box 4, Mukono, Uganda, Plot 67-173, Bishop Tucker Road, Mukono Hill | Tel: +256 (0) 312 350 800 Email: </a:t>
            </a:r>
            <a:r>
              <a:rPr b="0" sz="700" u="sng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hlinkClick r:id="rId3" invalidUrl="" action="" tgtFrame="" tooltip="" history="1" highlightClick="0" endSnd="0"/>
              </a:rPr>
              <a:t>info@ucu.ac.ug</a:t>
            </a:r>
            <a:r>
              <a:rPr b="0" sz="700">
                <a:solidFill>
                  <a:srgbClr val="0000FF"/>
                </a:solidFill>
              </a:rPr>
              <a:t> </a:t>
            </a:r>
            <a:r>
              <a:rPr b="0" sz="700">
                <a:solidFill>
                  <a:srgbClr val="000000"/>
                </a:solidFill>
              </a:rPr>
              <a:t>Web: </a:t>
            </a:r>
            <a:r>
              <a:rPr b="0" sz="700" u="sng">
                <a:solidFill>
                  <a:srgbClr val="0000FF"/>
                </a:solidFill>
              </a:rPr>
              <a:t>https://</a:t>
            </a:r>
            <a:r>
              <a:rPr b="0" sz="700" u="sng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hlinkClick r:id="rId4" invalidUrl="" action="" tgtFrame="" tooltip="" history="1" highlightClick="0" endSnd="0"/>
              </a:rPr>
              <a:t>ucu.ac.ug</a:t>
            </a:r>
            <a:endParaRPr sz="700" u="sng">
              <a:solidFill>
                <a:srgbClr val="0000FF"/>
              </a:solidFill>
            </a:endParaRPr>
          </a:p>
          <a:p>
            <a:pPr algn="ctr">
              <a:defRPr sz="60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Founded by the Province of the Church of Uganda. Chartered by the Government of Uganda</a:t>
            </a:r>
          </a:p>
        </p:txBody>
      </p:sp>
      <p:sp>
        <p:nvSpPr>
          <p:cNvPr id="115" name="Google Shape;19;p10"/>
          <p:cNvSpPr/>
          <p:nvPr/>
        </p:nvSpPr>
        <p:spPr>
          <a:xfrm>
            <a:off x="0" y="6395027"/>
            <a:ext cx="12192001" cy="1"/>
          </a:xfrm>
          <a:prstGeom prst="line">
            <a:avLst/>
          </a:prstGeom>
          <a:ln w="12700">
            <a:solidFill>
              <a:srgbClr val="D70167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116" name="Google Shape;20;p10" descr="Google Shape;20;p10"/>
          <p:cNvPicPr>
            <a:picLocks noChangeAspect="1"/>
          </p:cNvPicPr>
          <p:nvPr/>
        </p:nvPicPr>
        <p:blipFill>
          <a:blip r:embed="rId5">
            <a:extLst/>
          </a:blip>
          <a:srcRect l="0" t="0" r="0" b="42643"/>
          <a:stretch>
            <a:fillRect/>
          </a:stretch>
        </p:blipFill>
        <p:spPr>
          <a:xfrm>
            <a:off x="0" y="5412966"/>
            <a:ext cx="1162290" cy="1445034"/>
          </a:xfrm>
          <a:prstGeom prst="rect">
            <a:avLst/>
          </a:prstGeom>
          <a:ln w="12700">
            <a:miter lim="400000"/>
          </a:ln>
        </p:spPr>
      </p:pic>
      <p:sp>
        <p:nvSpPr>
          <p:cNvPr id="117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118" name="Google Shape;63;p17"/>
          <p:cNvSpPr/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19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228600" indent="0">
              <a:buClrTx/>
              <a:buSzTx/>
              <a:buFontTx/>
              <a:buNone/>
              <a:defRPr sz="1600"/>
            </a:lvl1pPr>
            <a:lvl2pPr marL="228600" indent="457200">
              <a:buClrTx/>
              <a:buSzTx/>
              <a:buFontTx/>
              <a:buNone/>
              <a:defRPr sz="1600"/>
            </a:lvl2pPr>
            <a:lvl3pPr marL="228600" indent="914400">
              <a:buClrTx/>
              <a:buSzTx/>
              <a:buFontTx/>
              <a:buNone/>
              <a:defRPr sz="1600"/>
            </a:lvl3pPr>
            <a:lvl4pPr marL="228600" indent="1371600">
              <a:buClrTx/>
              <a:buSzTx/>
              <a:buFontTx/>
              <a:buNone/>
              <a:defRPr sz="1600"/>
            </a:lvl4pPr>
            <a:lvl5pPr marL="228600" indent="1828800">
              <a:buClrTx/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0;p10" descr="Google Shape;10;p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76790" y="0"/>
            <a:ext cx="2415210" cy="735885"/>
          </a:xfrm>
          <a:prstGeom prst="rect">
            <a:avLst/>
          </a:prstGeom>
          <a:ln w="12700">
            <a:miter lim="400000"/>
          </a:ln>
        </p:spPr>
      </p:pic>
      <p:sp>
        <p:nvSpPr>
          <p:cNvPr id="128" name="Google Shape;13;p10"/>
          <p:cNvSpPr/>
          <p:nvPr/>
        </p:nvSpPr>
        <p:spPr>
          <a:xfrm>
            <a:off x="838200" y="1508125"/>
            <a:ext cx="11353800" cy="179388"/>
          </a:xfrm>
          <a:prstGeom prst="rect">
            <a:avLst/>
          </a:prstGeom>
          <a:solidFill>
            <a:srgbClr val="0B3D9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129" name="Google Shape;14;p10"/>
          <p:cNvSpPr/>
          <p:nvPr/>
        </p:nvSpPr>
        <p:spPr>
          <a:xfrm>
            <a:off x="0" y="1508125"/>
            <a:ext cx="838200" cy="179388"/>
          </a:xfrm>
          <a:prstGeom prst="rect">
            <a:avLst/>
          </a:prstGeom>
          <a:solidFill>
            <a:srgbClr val="D7014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130" name="Google Shape;15;p10"/>
          <p:cNvSpPr/>
          <p:nvPr/>
        </p:nvSpPr>
        <p:spPr>
          <a:xfrm>
            <a:off x="838200" y="1508124"/>
            <a:ext cx="838200" cy="179389"/>
          </a:xfrm>
          <a:prstGeom prst="rect">
            <a:avLst/>
          </a:prstGeom>
          <a:solidFill>
            <a:srgbClr val="FFD93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131" name="Google Shape;18;p10"/>
          <p:cNvSpPr txBox="1"/>
          <p:nvPr/>
        </p:nvSpPr>
        <p:spPr>
          <a:xfrm>
            <a:off x="2162624" y="6356349"/>
            <a:ext cx="7425979" cy="42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 algn="ctr">
              <a:defRPr b="1" sz="800">
                <a:solidFill>
                  <a:srgbClr val="0B3D91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A Complete Education for A Complete Person</a:t>
            </a:r>
            <a:br/>
            <a:r>
              <a:rPr b="0" sz="700">
                <a:solidFill>
                  <a:srgbClr val="000000"/>
                </a:solidFill>
              </a:rPr>
              <a:t>P.O. Box 4, Mukono, Uganda, Plot 67-173, Bishop Tucker Road, Mukono Hill | Tel: +256 (0) 312 350 800 Email: </a:t>
            </a:r>
            <a:r>
              <a:rPr b="0" sz="700" u="sng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hlinkClick r:id="rId3" invalidUrl="" action="" tgtFrame="" tooltip="" history="1" highlightClick="0" endSnd="0"/>
              </a:rPr>
              <a:t>info@ucu.ac.ug</a:t>
            </a:r>
            <a:r>
              <a:rPr b="0" sz="700">
                <a:solidFill>
                  <a:srgbClr val="0000FF"/>
                </a:solidFill>
              </a:rPr>
              <a:t> </a:t>
            </a:r>
            <a:r>
              <a:rPr b="0" sz="700">
                <a:solidFill>
                  <a:srgbClr val="000000"/>
                </a:solidFill>
              </a:rPr>
              <a:t>Web: </a:t>
            </a:r>
            <a:r>
              <a:rPr b="0" sz="700" u="sng">
                <a:solidFill>
                  <a:srgbClr val="0000FF"/>
                </a:solidFill>
              </a:rPr>
              <a:t>https://</a:t>
            </a:r>
            <a:r>
              <a:rPr b="0" sz="700" u="sng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hlinkClick r:id="rId4" invalidUrl="" action="" tgtFrame="" tooltip="" history="1" highlightClick="0" endSnd="0"/>
              </a:rPr>
              <a:t>ucu.ac.ug</a:t>
            </a:r>
            <a:endParaRPr sz="700" u="sng">
              <a:solidFill>
                <a:srgbClr val="0000FF"/>
              </a:solidFill>
            </a:endParaRPr>
          </a:p>
          <a:p>
            <a:pPr algn="ctr">
              <a:defRPr sz="60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Founded by the Province of the Church of Uganda. Chartered by the Government of Uganda</a:t>
            </a:r>
          </a:p>
        </p:txBody>
      </p:sp>
      <p:sp>
        <p:nvSpPr>
          <p:cNvPr id="132" name="Google Shape;19;p10"/>
          <p:cNvSpPr/>
          <p:nvPr/>
        </p:nvSpPr>
        <p:spPr>
          <a:xfrm>
            <a:off x="0" y="6395027"/>
            <a:ext cx="12192001" cy="1"/>
          </a:xfrm>
          <a:prstGeom prst="line">
            <a:avLst/>
          </a:prstGeom>
          <a:ln w="12700">
            <a:solidFill>
              <a:srgbClr val="D70167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133" name="Google Shape;20;p10" descr="Google Shape;20;p10"/>
          <p:cNvPicPr>
            <a:picLocks noChangeAspect="1"/>
          </p:cNvPicPr>
          <p:nvPr/>
        </p:nvPicPr>
        <p:blipFill>
          <a:blip r:embed="rId5">
            <a:extLst/>
          </a:blip>
          <a:srcRect l="0" t="0" r="0" b="42643"/>
          <a:stretch>
            <a:fillRect/>
          </a:stretch>
        </p:blipFill>
        <p:spPr>
          <a:xfrm>
            <a:off x="0" y="5412966"/>
            <a:ext cx="1162290" cy="144503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45" name="Google Shape;72;p18"/>
          <p:cNvGrpSpPr/>
          <p:nvPr/>
        </p:nvGrpSpPr>
        <p:grpSpPr>
          <a:xfrm>
            <a:off x="888266" y="4604422"/>
            <a:ext cx="5505407" cy="1360804"/>
            <a:chOff x="0" y="0"/>
            <a:chExt cx="5505405" cy="1360803"/>
          </a:xfrm>
        </p:grpSpPr>
        <p:grpSp>
          <p:nvGrpSpPr>
            <p:cNvPr id="143" name="Google Shape;73;p18"/>
            <p:cNvGrpSpPr/>
            <p:nvPr/>
          </p:nvGrpSpPr>
          <p:grpSpPr>
            <a:xfrm>
              <a:off x="1197396" y="0"/>
              <a:ext cx="4308010" cy="1352488"/>
              <a:chOff x="0" y="0"/>
              <a:chExt cx="4308008" cy="1352487"/>
            </a:xfrm>
          </p:grpSpPr>
          <p:pic>
            <p:nvPicPr>
              <p:cNvPr id="134" name="Google Shape;74;p18" descr="Google Shape;74;p18"/>
              <p:cNvPicPr>
                <a:picLocks noChangeAspect="1"/>
              </p:cNvPicPr>
              <p:nvPr/>
            </p:nvPicPr>
            <p:blipFill>
              <a:blip r:embed="rId6">
                <a:extLst/>
              </a:blip>
              <a:srcRect l="0" t="0" r="66494" b="67238"/>
              <a:stretch>
                <a:fillRect/>
              </a:stretch>
            </p:blipFill>
            <p:spPr>
              <a:xfrm>
                <a:off x="36013" y="898973"/>
                <a:ext cx="208941" cy="21596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135" name="Google Shape;75;p18" descr="Google Shape;75;p18"/>
              <p:cNvPicPr>
                <a:picLocks noChangeAspect="1"/>
              </p:cNvPicPr>
              <p:nvPr/>
            </p:nvPicPr>
            <p:blipFill>
              <a:blip r:embed="rId7">
                <a:extLst/>
              </a:blip>
              <a:srcRect l="67402" t="0" r="0" b="69905"/>
              <a:stretch>
                <a:fillRect/>
              </a:stretch>
            </p:blipFill>
            <p:spPr>
              <a:xfrm>
                <a:off x="29839" y="1113805"/>
                <a:ext cx="221285" cy="21596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136" name="Google Shape;76;p18" descr="Google Shape;76;p18"/>
              <p:cNvPicPr>
                <a:picLocks noChangeAspect="1"/>
              </p:cNvPicPr>
              <p:nvPr/>
            </p:nvPicPr>
            <p:blipFill>
              <a:blip r:embed="rId8">
                <a:extLst/>
              </a:blip>
              <a:stretch>
                <a:fillRect/>
              </a:stretch>
            </p:blipFill>
            <p:spPr>
              <a:xfrm>
                <a:off x="36013" y="618763"/>
                <a:ext cx="208939" cy="21596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137" name="Google Shape;77;p18"/>
              <p:cNvSpPr txBox="1"/>
              <p:nvPr/>
            </p:nvSpPr>
            <p:spPr>
              <a:xfrm>
                <a:off x="291920" y="836806"/>
                <a:ext cx="2393787" cy="2692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699" tIns="45699" rIns="45699" bIns="45699" numCol="1" anchor="t">
                <a:spAutoFit/>
              </a:bodyPr>
              <a:lstStyle>
                <a:lvl1pPr>
                  <a:defRPr sz="1200">
                    <a:latin typeface="Trebuchet MS"/>
                    <a:ea typeface="Trebuchet MS"/>
                    <a:cs typeface="Trebuchet MS"/>
                    <a:sym typeface="Trebuchet MS"/>
                  </a:defRPr>
                </a:lvl1pPr>
              </a:lstStyle>
              <a:p>
                <a:pPr/>
                <a:r>
                  <a:t>@ugandachristianuniversity</a:t>
                </a:r>
              </a:p>
            </p:txBody>
          </p:sp>
          <p:sp>
            <p:nvSpPr>
              <p:cNvPr id="138" name="Google Shape;78;p18"/>
              <p:cNvSpPr txBox="1"/>
              <p:nvPr/>
            </p:nvSpPr>
            <p:spPr>
              <a:xfrm>
                <a:off x="2623437" y="843339"/>
                <a:ext cx="1401767" cy="2819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699" tIns="45699" rIns="45699" bIns="45699" numCol="1" anchor="t">
                <a:spAutoFit/>
              </a:bodyPr>
              <a:lstStyle/>
              <a:p>
                <a:pPr>
                  <a:defRPr sz="1300">
                    <a:solidFill>
                      <a:srgbClr val="0C0C0C"/>
                    </a:solidFill>
                    <a:latin typeface="Trebuchet MS"/>
                    <a:ea typeface="Trebuchet MS"/>
                    <a:cs typeface="Trebuchet MS"/>
                    <a:sym typeface="Trebuchet MS"/>
                  </a:defRPr>
                </a:pPr>
                <a:r>
                  <a:t>@</a:t>
                </a:r>
                <a:r>
                  <a:rPr sz="1200"/>
                  <a:t>UCUniversity</a:t>
                </a:r>
              </a:p>
            </p:txBody>
          </p:sp>
          <p:sp>
            <p:nvSpPr>
              <p:cNvPr id="139" name="Google Shape;79;p18"/>
              <p:cNvSpPr txBox="1"/>
              <p:nvPr/>
            </p:nvSpPr>
            <p:spPr>
              <a:xfrm>
                <a:off x="306478" y="1083287"/>
                <a:ext cx="2625045" cy="2692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699" tIns="45699" rIns="45699" bIns="45699" numCol="1" anchor="t">
                <a:spAutoFit/>
              </a:bodyPr>
              <a:lstStyle>
                <a:lvl1pPr>
                  <a:defRPr sz="1200">
                    <a:solidFill>
                      <a:srgbClr val="0C0C0C"/>
                    </a:solidFill>
                    <a:latin typeface="Trebuchet MS"/>
                    <a:ea typeface="Trebuchet MS"/>
                    <a:cs typeface="Trebuchet MS"/>
                    <a:sym typeface="Trebuchet MS"/>
                  </a:defRPr>
                </a:lvl1pPr>
              </a:lstStyle>
              <a:p>
                <a:pPr/>
                <a:r>
                  <a:t>@UgandaChristianUniversity</a:t>
                </a:r>
              </a:p>
            </p:txBody>
          </p:sp>
          <p:sp>
            <p:nvSpPr>
              <p:cNvPr id="140" name="Google Shape;80;p18"/>
              <p:cNvSpPr txBox="1"/>
              <p:nvPr/>
            </p:nvSpPr>
            <p:spPr>
              <a:xfrm>
                <a:off x="19708" y="234562"/>
                <a:ext cx="4288301" cy="5486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699" tIns="45699" rIns="45699" bIns="45699" numCol="1" anchor="t">
                <a:spAutoFit/>
              </a:bodyPr>
              <a:lstStyle/>
              <a:p>
                <a:pPr>
                  <a:defRPr sz="1100">
                    <a:solidFill>
                      <a:srgbClr val="1E4E79"/>
                    </a:solidFill>
                    <a:latin typeface="Trebuchet MS"/>
                    <a:ea typeface="Trebuchet MS"/>
                    <a:cs typeface="Trebuchet MS"/>
                    <a:sym typeface="Trebuchet MS"/>
                  </a:defRPr>
                </a:pPr>
                <a:r>
                  <a:t>P.O. Box 4 Mukono, Uganda</a:t>
                </a:r>
              </a:p>
              <a:p>
                <a:pPr>
                  <a:defRPr sz="1100">
                    <a:solidFill>
                      <a:srgbClr val="1E4E79"/>
                    </a:solidFill>
                    <a:latin typeface="Trebuchet MS"/>
                    <a:ea typeface="Trebuchet MS"/>
                    <a:cs typeface="Trebuchet MS"/>
                    <a:sym typeface="Trebuchet MS"/>
                  </a:defRPr>
                </a:pPr>
                <a:r>
                  <a:t>Tel: 256-312-350800</a:t>
                </a:r>
              </a:p>
              <a:p>
                <a:pPr>
                  <a:defRPr sz="1100" u="sng">
                    <a:solidFill>
                      <a:srgbClr val="0000FF"/>
                    </a:solidFill>
                    <a:latin typeface="Trebuchet MS"/>
                    <a:ea typeface="Trebuchet MS"/>
                    <a:cs typeface="Trebuchet MS"/>
                    <a:sym typeface="Trebuchet MS"/>
                  </a:defRPr>
                </a:pPr>
                <a:r>
                  <a:rPr>
                    <a:solidFill>
                      <a:srgbClr val="F7B615"/>
                    </a:solidFill>
                    <a:uFill>
                      <a:solidFill>
                        <a:srgbClr val="F7B615"/>
                      </a:solidFill>
                    </a:uFill>
                    <a:hlinkClick r:id="rId9" invalidUrl="" action="" tgtFrame="" tooltip="" history="1" highlightClick="0" endSnd="0"/>
                  </a:rPr>
                  <a:t>      https://ucu.ac.ug/</a:t>
                </a:r>
                <a:r>
                  <a:rPr u="none"/>
                  <a:t> </a:t>
                </a:r>
                <a:r>
                  <a:rPr u="none">
                    <a:solidFill>
                      <a:srgbClr val="1E4E79"/>
                    </a:solidFill>
                  </a:rPr>
                  <a:t>   Email: </a:t>
                </a:r>
                <a:r>
                  <a:rPr>
                    <a:solidFill>
                      <a:srgbClr val="F7B615"/>
                    </a:solidFill>
                    <a:uFill>
                      <a:solidFill>
                        <a:srgbClr val="F7B615"/>
                      </a:solidFill>
                    </a:uFill>
                    <a:hlinkClick r:id="rId3" invalidUrl="" action="" tgtFrame="" tooltip="" history="1" highlightClick="0" endSnd="0"/>
                  </a:rPr>
                  <a:t>info@ucu.ac.ug</a:t>
                </a:r>
                <a:r>
                  <a:rPr u="none"/>
                  <a:t>.   </a:t>
                </a:r>
              </a:p>
            </p:txBody>
          </p:sp>
          <p:sp>
            <p:nvSpPr>
              <p:cNvPr id="141" name="Google Shape;81;p18"/>
              <p:cNvSpPr txBox="1"/>
              <p:nvPr/>
            </p:nvSpPr>
            <p:spPr>
              <a:xfrm>
                <a:off x="0" y="0"/>
                <a:ext cx="3408791" cy="3327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699" tIns="45699" rIns="45699" bIns="45699" numCol="1" anchor="t">
                <a:spAutoFit/>
              </a:bodyPr>
              <a:lstStyle>
                <a:lvl1pPr>
                  <a:defRPr b="1" sz="1600">
                    <a:solidFill>
                      <a:srgbClr val="1E4E79"/>
                    </a:solidFill>
                    <a:latin typeface="Trebuchet MS"/>
                    <a:ea typeface="Trebuchet MS"/>
                    <a:cs typeface="Trebuchet MS"/>
                    <a:sym typeface="Trebuchet MS"/>
                  </a:defRPr>
                </a:lvl1pPr>
              </a:lstStyle>
              <a:p>
                <a:pPr/>
                <a:r>
                  <a:t>Uganda Christian University</a:t>
                </a:r>
              </a:p>
            </p:txBody>
          </p:sp>
          <p:pic>
            <p:nvPicPr>
              <p:cNvPr id="142" name="Google Shape;82;p18" descr="Google Shape;82;p18"/>
              <p:cNvPicPr>
                <a:picLocks noChangeAspect="1"/>
              </p:cNvPicPr>
              <p:nvPr/>
            </p:nvPicPr>
            <p:blipFill>
              <a:blip r:embed="rId7">
                <a:extLst/>
              </a:blip>
              <a:srcRect l="0" t="34921" r="64674" b="31937"/>
              <a:stretch>
                <a:fillRect/>
              </a:stretch>
            </p:blipFill>
            <p:spPr>
              <a:xfrm>
                <a:off x="2383348" y="892900"/>
                <a:ext cx="218372" cy="21658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144" name="Google Shape;83;p18" descr="Google Shape;83;p18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4177" t="16271" r="77310" b="16736"/>
            <a:stretch>
              <a:fillRect/>
            </a:stretch>
          </p:blipFill>
          <p:spPr>
            <a:xfrm>
              <a:off x="0" y="40177"/>
              <a:ext cx="1197779" cy="132062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146" name="Google Shape;84;p18" descr="Google Shape;84;p18"/>
          <p:cNvPicPr>
            <a:picLocks noChangeAspect="1"/>
          </p:cNvPicPr>
          <p:nvPr/>
        </p:nvPicPr>
        <p:blipFill>
          <a:blip r:embed="rId10">
            <a:extLst/>
          </a:blip>
          <a:srcRect l="0" t="0" r="0" b="13042"/>
          <a:stretch>
            <a:fillRect/>
          </a:stretch>
        </p:blipFill>
        <p:spPr>
          <a:xfrm>
            <a:off x="5409984" y="1899156"/>
            <a:ext cx="1825645" cy="170412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55" name="Google Shape;85;p18"/>
          <p:cNvGrpSpPr/>
          <p:nvPr/>
        </p:nvGrpSpPr>
        <p:grpSpPr>
          <a:xfrm>
            <a:off x="8268806" y="4505033"/>
            <a:ext cx="4618967" cy="1334067"/>
            <a:chOff x="0" y="0"/>
            <a:chExt cx="4618966" cy="1334066"/>
          </a:xfrm>
        </p:grpSpPr>
        <p:pic>
          <p:nvPicPr>
            <p:cNvPr id="147" name="Google Shape;86;p18" descr="Google Shape;86;p18"/>
            <p:cNvPicPr>
              <a:picLocks noChangeAspect="1"/>
            </p:cNvPicPr>
            <p:nvPr/>
          </p:nvPicPr>
          <p:blipFill>
            <a:blip r:embed="rId6">
              <a:extLst/>
            </a:blip>
            <a:srcRect l="0" t="0" r="66494" b="67238"/>
            <a:stretch>
              <a:fillRect/>
            </a:stretch>
          </p:blipFill>
          <p:spPr>
            <a:xfrm>
              <a:off x="14690" y="864004"/>
              <a:ext cx="232775" cy="24059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8" name="Google Shape;87;p18" descr="Google Shape;87;p18"/>
            <p:cNvPicPr>
              <a:picLocks noChangeAspect="1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39239" y="1114781"/>
              <a:ext cx="205665" cy="21257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49" name="Google Shape;89;p18"/>
            <p:cNvSpPr txBox="1"/>
            <p:nvPr/>
          </p:nvSpPr>
          <p:spPr>
            <a:xfrm>
              <a:off x="240508" y="1090266"/>
              <a:ext cx="1551139" cy="243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100">
                  <a:solidFill>
                    <a:srgbClr val="0000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lvl1pPr>
            </a:lstStyle>
            <a:p>
              <a:pPr/>
              <a:r>
                <a:t>https://cse.ucu.ac.ug/</a:t>
              </a:r>
            </a:p>
          </p:txBody>
        </p:sp>
        <p:sp>
          <p:nvSpPr>
            <p:cNvPr id="150" name="Google Shape;90;p18"/>
            <p:cNvSpPr txBox="1"/>
            <p:nvPr/>
          </p:nvSpPr>
          <p:spPr>
            <a:xfrm>
              <a:off x="1697300" y="842439"/>
              <a:ext cx="1376274" cy="269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rgbClr val="0C0C0C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lvl1pPr>
            </a:lstStyle>
            <a:p>
              <a:pPr/>
              <a:r>
                <a:t>@ucu_ComputEng</a:t>
              </a:r>
            </a:p>
          </p:txBody>
        </p:sp>
        <p:sp>
          <p:nvSpPr>
            <p:cNvPr id="151" name="Google Shape;91;p18"/>
            <p:cNvSpPr txBox="1"/>
            <p:nvPr/>
          </p:nvSpPr>
          <p:spPr>
            <a:xfrm>
              <a:off x="240508" y="827369"/>
              <a:ext cx="1234810" cy="243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100">
                  <a:solidFill>
                    <a:srgbClr val="0C0C0C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lvl1pPr>
            </a:lstStyle>
            <a:p>
              <a:pPr/>
              <a:r>
                <a:t>@ucucomputeng</a:t>
              </a:r>
            </a:p>
          </p:txBody>
        </p:sp>
        <p:sp>
          <p:nvSpPr>
            <p:cNvPr id="152" name="Google Shape;92;p18"/>
            <p:cNvSpPr txBox="1"/>
            <p:nvPr/>
          </p:nvSpPr>
          <p:spPr>
            <a:xfrm>
              <a:off x="17028" y="533715"/>
              <a:ext cx="4601938" cy="243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100">
                  <a:solidFill>
                    <a:srgbClr val="1E4E79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lvl1pPr>
            </a:lstStyle>
            <a:p>
              <a:pPr/>
              <a:r>
                <a:t>Tel: +256 (0) 312 350 863 | WhatsApp: +256 (0) 708 114 300</a:t>
              </a:r>
            </a:p>
          </p:txBody>
        </p:sp>
        <p:sp>
          <p:nvSpPr>
            <p:cNvPr id="153" name="Google Shape;93;p18"/>
            <p:cNvSpPr txBox="1"/>
            <p:nvPr/>
          </p:nvSpPr>
          <p:spPr>
            <a:xfrm>
              <a:off x="0" y="0"/>
              <a:ext cx="4601938" cy="5105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>
                <a:defRPr b="1" sz="1600">
                  <a:solidFill>
                    <a:srgbClr val="1E4E79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  <a:r>
                <a:t>Department of Computing &amp; Technology</a:t>
              </a:r>
            </a:p>
            <a:p>
              <a:pPr>
                <a:defRPr b="1" sz="1200">
                  <a:solidFill>
                    <a:srgbClr val="C00000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  <a:r>
                <a:t>FACULTY OF ENGINEERING, DESIGN AND TECHNOLOGY</a:t>
              </a:r>
            </a:p>
          </p:txBody>
        </p:sp>
        <p:pic>
          <p:nvPicPr>
            <p:cNvPr id="154" name="Google Shape;94;p18" descr="Google Shape;94;p18"/>
            <p:cNvPicPr>
              <a:picLocks noChangeAspect="1"/>
            </p:cNvPicPr>
            <p:nvPr/>
          </p:nvPicPr>
          <p:blipFill>
            <a:blip r:embed="rId7">
              <a:extLst/>
            </a:blip>
            <a:srcRect l="0" t="34921" r="64674" b="31937"/>
            <a:stretch>
              <a:fillRect/>
            </a:stretch>
          </p:blipFill>
          <p:spPr>
            <a:xfrm>
              <a:off x="1471148" y="888907"/>
              <a:ext cx="252462" cy="25039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56" name="Google Shape;95;p18"/>
          <p:cNvSpPr txBox="1"/>
          <p:nvPr/>
        </p:nvSpPr>
        <p:spPr>
          <a:xfrm>
            <a:off x="10127232" y="5598486"/>
            <a:ext cx="1909295" cy="243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>
              <a:defRPr sz="1100">
                <a:solidFill>
                  <a:srgbClr val="1E4E79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Email: dct-</a:t>
            </a:r>
            <a:r>
              <a:rPr u="sng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hlinkClick r:id="rId3" invalidUrl="" action="" tgtFrame="" tooltip="" history="1" highlightClick="0" endSnd="0"/>
              </a:rPr>
              <a:t>info@ucu.ac.ug</a:t>
            </a:r>
          </a:p>
        </p:txBody>
      </p:sp>
      <p:pic>
        <p:nvPicPr>
          <p:cNvPr id="157" name="Google Shape;96;p18" descr="Google Shape;96;p18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 flipH="1">
            <a:off x="7631107" y="4473507"/>
            <a:ext cx="634565" cy="1407475"/>
          </a:xfrm>
          <a:prstGeom prst="rect">
            <a:avLst/>
          </a:prstGeom>
          <a:ln w="12700">
            <a:miter lim="400000"/>
          </a:ln>
        </p:spPr>
      </p:pic>
      <p:sp>
        <p:nvSpPr>
          <p:cNvPr id="158" name="Google Shape;97;p18"/>
          <p:cNvSpPr/>
          <p:nvPr/>
        </p:nvSpPr>
        <p:spPr>
          <a:xfrm flipH="1">
            <a:off x="345988" y="4505033"/>
            <a:ext cx="11846013" cy="105017"/>
          </a:xfrm>
          <a:prstGeom prst="line">
            <a:avLst/>
          </a:prstGeom>
          <a:ln>
            <a:solidFill>
              <a:schemeClr val="accent1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59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6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0;p10" descr="Google Shape;10;p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76790" y="0"/>
            <a:ext cx="2415210" cy="735885"/>
          </a:xfrm>
          <a:prstGeom prst="rect">
            <a:avLst/>
          </a:prstGeom>
          <a:ln w="12700">
            <a:miter lim="400000"/>
          </a:ln>
        </p:spPr>
      </p:pic>
      <p:sp>
        <p:nvSpPr>
          <p:cNvPr id="168" name="Google Shape;13;p10"/>
          <p:cNvSpPr/>
          <p:nvPr/>
        </p:nvSpPr>
        <p:spPr>
          <a:xfrm>
            <a:off x="838200" y="1508125"/>
            <a:ext cx="11353800" cy="179388"/>
          </a:xfrm>
          <a:prstGeom prst="rect">
            <a:avLst/>
          </a:prstGeom>
          <a:solidFill>
            <a:srgbClr val="0B3D9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169" name="Google Shape;14;p10"/>
          <p:cNvSpPr/>
          <p:nvPr/>
        </p:nvSpPr>
        <p:spPr>
          <a:xfrm>
            <a:off x="0" y="1508125"/>
            <a:ext cx="838200" cy="179388"/>
          </a:xfrm>
          <a:prstGeom prst="rect">
            <a:avLst/>
          </a:prstGeom>
          <a:solidFill>
            <a:srgbClr val="D7014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170" name="Google Shape;15;p10"/>
          <p:cNvSpPr/>
          <p:nvPr/>
        </p:nvSpPr>
        <p:spPr>
          <a:xfrm>
            <a:off x="838200" y="1508124"/>
            <a:ext cx="838200" cy="179389"/>
          </a:xfrm>
          <a:prstGeom prst="rect">
            <a:avLst/>
          </a:prstGeom>
          <a:solidFill>
            <a:srgbClr val="FFD93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171" name="Google Shape;18;p10"/>
          <p:cNvSpPr txBox="1"/>
          <p:nvPr/>
        </p:nvSpPr>
        <p:spPr>
          <a:xfrm>
            <a:off x="2162624" y="6356349"/>
            <a:ext cx="7425979" cy="42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 algn="ctr">
              <a:defRPr b="1" sz="800">
                <a:solidFill>
                  <a:srgbClr val="0B3D91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A Complete Education for A Complete Person</a:t>
            </a:r>
            <a:br/>
            <a:r>
              <a:rPr b="0" sz="700">
                <a:solidFill>
                  <a:srgbClr val="000000"/>
                </a:solidFill>
              </a:rPr>
              <a:t>P.O. Box 4, Mukono, Uganda, Plot 67-173, Bishop Tucker Road, Mukono Hill | Tel: +256 (0) 312 350 800 Email: </a:t>
            </a:r>
            <a:r>
              <a:rPr b="0" sz="700" u="sng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hlinkClick r:id="rId3" invalidUrl="" action="" tgtFrame="" tooltip="" history="1" highlightClick="0" endSnd="0"/>
              </a:rPr>
              <a:t>info@ucu.ac.ug</a:t>
            </a:r>
            <a:r>
              <a:rPr b="0" sz="700">
                <a:solidFill>
                  <a:srgbClr val="0000FF"/>
                </a:solidFill>
              </a:rPr>
              <a:t> </a:t>
            </a:r>
            <a:r>
              <a:rPr b="0" sz="700">
                <a:solidFill>
                  <a:srgbClr val="000000"/>
                </a:solidFill>
              </a:rPr>
              <a:t>Web: </a:t>
            </a:r>
            <a:r>
              <a:rPr b="0" sz="700" u="sng">
                <a:solidFill>
                  <a:srgbClr val="0000FF"/>
                </a:solidFill>
              </a:rPr>
              <a:t>https://</a:t>
            </a:r>
            <a:r>
              <a:rPr b="0" sz="700" u="sng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hlinkClick r:id="rId4" invalidUrl="" action="" tgtFrame="" tooltip="" history="1" highlightClick="0" endSnd="0"/>
              </a:rPr>
              <a:t>ucu.ac.ug</a:t>
            </a:r>
            <a:endParaRPr sz="700" u="sng">
              <a:solidFill>
                <a:srgbClr val="0000FF"/>
              </a:solidFill>
            </a:endParaRPr>
          </a:p>
          <a:p>
            <a:pPr algn="ctr">
              <a:defRPr sz="60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Founded by the Province of the Church of Uganda. Chartered by the Government of Uganda</a:t>
            </a:r>
          </a:p>
        </p:txBody>
      </p:sp>
      <p:sp>
        <p:nvSpPr>
          <p:cNvPr id="172" name="Google Shape;19;p10"/>
          <p:cNvSpPr/>
          <p:nvPr/>
        </p:nvSpPr>
        <p:spPr>
          <a:xfrm>
            <a:off x="0" y="6395027"/>
            <a:ext cx="12192001" cy="1"/>
          </a:xfrm>
          <a:prstGeom prst="line">
            <a:avLst/>
          </a:prstGeom>
          <a:ln w="12700">
            <a:solidFill>
              <a:srgbClr val="D70167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173" name="Google Shape;20;p10" descr="Google Shape;20;p10"/>
          <p:cNvPicPr>
            <a:picLocks noChangeAspect="1"/>
          </p:cNvPicPr>
          <p:nvPr/>
        </p:nvPicPr>
        <p:blipFill>
          <a:blip r:embed="rId5">
            <a:extLst/>
          </a:blip>
          <a:srcRect l="0" t="0" r="0" b="42643"/>
          <a:stretch>
            <a:fillRect/>
          </a:stretch>
        </p:blipFill>
        <p:spPr>
          <a:xfrm>
            <a:off x="0" y="5412966"/>
            <a:ext cx="1162290" cy="1445034"/>
          </a:xfrm>
          <a:prstGeom prst="rect">
            <a:avLst/>
          </a:prstGeom>
          <a:ln w="12700">
            <a:miter lim="400000"/>
          </a:ln>
        </p:spPr>
      </p:pic>
      <p:sp>
        <p:nvSpPr>
          <p:cNvPr id="174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75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228600" indent="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228600" indent="45720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228600" indent="91440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228600" indent="137160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228600" indent="182880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0;p10" descr="Google Shape;10;p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76790" y="0"/>
            <a:ext cx="2415210" cy="735885"/>
          </a:xfrm>
          <a:prstGeom prst="rect">
            <a:avLst/>
          </a:prstGeom>
          <a:ln w="12700">
            <a:miter lim="400000"/>
          </a:ln>
        </p:spPr>
      </p:pic>
      <p:sp>
        <p:nvSpPr>
          <p:cNvPr id="184" name="Google Shape;13;p10"/>
          <p:cNvSpPr/>
          <p:nvPr/>
        </p:nvSpPr>
        <p:spPr>
          <a:xfrm>
            <a:off x="838200" y="1508125"/>
            <a:ext cx="11353800" cy="179388"/>
          </a:xfrm>
          <a:prstGeom prst="rect">
            <a:avLst/>
          </a:prstGeom>
          <a:solidFill>
            <a:srgbClr val="0B3D9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185" name="Google Shape;14;p10"/>
          <p:cNvSpPr/>
          <p:nvPr/>
        </p:nvSpPr>
        <p:spPr>
          <a:xfrm>
            <a:off x="0" y="1508125"/>
            <a:ext cx="838200" cy="179388"/>
          </a:xfrm>
          <a:prstGeom prst="rect">
            <a:avLst/>
          </a:prstGeom>
          <a:solidFill>
            <a:srgbClr val="D7014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186" name="Google Shape;15;p10"/>
          <p:cNvSpPr/>
          <p:nvPr/>
        </p:nvSpPr>
        <p:spPr>
          <a:xfrm>
            <a:off x="838200" y="1508124"/>
            <a:ext cx="838200" cy="179389"/>
          </a:xfrm>
          <a:prstGeom prst="rect">
            <a:avLst/>
          </a:prstGeom>
          <a:solidFill>
            <a:srgbClr val="FFD93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187" name="Google Shape;18;p10"/>
          <p:cNvSpPr txBox="1"/>
          <p:nvPr/>
        </p:nvSpPr>
        <p:spPr>
          <a:xfrm>
            <a:off x="2162624" y="6356349"/>
            <a:ext cx="7425979" cy="42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 algn="ctr">
              <a:defRPr b="1" sz="800">
                <a:solidFill>
                  <a:srgbClr val="0B3D91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A Complete Education for A Complete Person</a:t>
            </a:r>
            <a:br/>
            <a:r>
              <a:rPr b="0" sz="700">
                <a:solidFill>
                  <a:srgbClr val="000000"/>
                </a:solidFill>
              </a:rPr>
              <a:t>P.O. Box 4, Mukono, Uganda, Plot 67-173, Bishop Tucker Road, Mukono Hill | Tel: +256 (0) 312 350 800 Email: </a:t>
            </a:r>
            <a:r>
              <a:rPr b="0" sz="700" u="sng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hlinkClick r:id="rId3" invalidUrl="" action="" tgtFrame="" tooltip="" history="1" highlightClick="0" endSnd="0"/>
              </a:rPr>
              <a:t>info@ucu.ac.ug</a:t>
            </a:r>
            <a:r>
              <a:rPr b="0" sz="700">
                <a:solidFill>
                  <a:srgbClr val="0000FF"/>
                </a:solidFill>
              </a:rPr>
              <a:t> </a:t>
            </a:r>
            <a:r>
              <a:rPr b="0" sz="700">
                <a:solidFill>
                  <a:srgbClr val="000000"/>
                </a:solidFill>
              </a:rPr>
              <a:t>Web: </a:t>
            </a:r>
            <a:r>
              <a:rPr b="0" sz="700" u="sng">
                <a:solidFill>
                  <a:srgbClr val="0000FF"/>
                </a:solidFill>
              </a:rPr>
              <a:t>https://</a:t>
            </a:r>
            <a:r>
              <a:rPr b="0" sz="700" u="sng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hlinkClick r:id="rId4" invalidUrl="" action="" tgtFrame="" tooltip="" history="1" highlightClick="0" endSnd="0"/>
              </a:rPr>
              <a:t>ucu.ac.ug</a:t>
            </a:r>
            <a:endParaRPr sz="700" u="sng">
              <a:solidFill>
                <a:srgbClr val="0000FF"/>
              </a:solidFill>
            </a:endParaRPr>
          </a:p>
          <a:p>
            <a:pPr algn="ctr">
              <a:defRPr sz="60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Founded by the Province of the Church of Uganda. Chartered by the Government of Uganda</a:t>
            </a:r>
          </a:p>
        </p:txBody>
      </p:sp>
      <p:sp>
        <p:nvSpPr>
          <p:cNvPr id="188" name="Google Shape;19;p10"/>
          <p:cNvSpPr/>
          <p:nvPr/>
        </p:nvSpPr>
        <p:spPr>
          <a:xfrm>
            <a:off x="0" y="6395027"/>
            <a:ext cx="12192001" cy="1"/>
          </a:xfrm>
          <a:prstGeom prst="line">
            <a:avLst/>
          </a:prstGeom>
          <a:ln w="12700">
            <a:solidFill>
              <a:srgbClr val="D70167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189" name="Google Shape;20;p10" descr="Google Shape;20;p10"/>
          <p:cNvPicPr>
            <a:picLocks noChangeAspect="1"/>
          </p:cNvPicPr>
          <p:nvPr/>
        </p:nvPicPr>
        <p:blipFill>
          <a:blip r:embed="rId5">
            <a:extLst/>
          </a:blip>
          <a:srcRect l="0" t="0" r="0" b="42643"/>
          <a:stretch>
            <a:fillRect/>
          </a:stretch>
        </p:blipFill>
        <p:spPr>
          <a:xfrm>
            <a:off x="0" y="5412966"/>
            <a:ext cx="1162290" cy="1445034"/>
          </a:xfrm>
          <a:prstGeom prst="rect">
            <a:avLst/>
          </a:prstGeom>
          <a:ln w="12700">
            <a:miter lim="400000"/>
          </a:ln>
        </p:spPr>
      </p:pic>
      <p:sp>
        <p:nvSpPr>
          <p:cNvPr id="19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0;p10" descr="Google Shape;10;p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76790" y="0"/>
            <a:ext cx="2415210" cy="735885"/>
          </a:xfrm>
          <a:prstGeom prst="rect">
            <a:avLst/>
          </a:prstGeom>
          <a:ln w="12700">
            <a:miter lim="400000"/>
          </a:ln>
        </p:spPr>
      </p:pic>
      <p:sp>
        <p:nvSpPr>
          <p:cNvPr id="199" name="Google Shape;13;p10"/>
          <p:cNvSpPr/>
          <p:nvPr/>
        </p:nvSpPr>
        <p:spPr>
          <a:xfrm>
            <a:off x="838200" y="1508125"/>
            <a:ext cx="11353800" cy="179388"/>
          </a:xfrm>
          <a:prstGeom prst="rect">
            <a:avLst/>
          </a:prstGeom>
          <a:solidFill>
            <a:srgbClr val="0B3D9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200" name="Google Shape;14;p10"/>
          <p:cNvSpPr/>
          <p:nvPr/>
        </p:nvSpPr>
        <p:spPr>
          <a:xfrm>
            <a:off x="0" y="1508125"/>
            <a:ext cx="838200" cy="179388"/>
          </a:xfrm>
          <a:prstGeom prst="rect">
            <a:avLst/>
          </a:prstGeom>
          <a:solidFill>
            <a:srgbClr val="D7014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201" name="Google Shape;15;p10"/>
          <p:cNvSpPr/>
          <p:nvPr/>
        </p:nvSpPr>
        <p:spPr>
          <a:xfrm>
            <a:off x="838200" y="1508124"/>
            <a:ext cx="838200" cy="179389"/>
          </a:xfrm>
          <a:prstGeom prst="rect">
            <a:avLst/>
          </a:prstGeom>
          <a:solidFill>
            <a:srgbClr val="FFD93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202" name="Google Shape;18;p10"/>
          <p:cNvSpPr txBox="1"/>
          <p:nvPr/>
        </p:nvSpPr>
        <p:spPr>
          <a:xfrm>
            <a:off x="2162624" y="6356349"/>
            <a:ext cx="7425979" cy="42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 algn="ctr">
              <a:defRPr b="1" sz="800">
                <a:solidFill>
                  <a:srgbClr val="0B3D91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A Complete Education for A Complete Person</a:t>
            </a:r>
            <a:br/>
            <a:r>
              <a:rPr b="0" sz="700">
                <a:solidFill>
                  <a:srgbClr val="000000"/>
                </a:solidFill>
              </a:rPr>
              <a:t>P.O. Box 4, Mukono, Uganda, Plot 67-173, Bishop Tucker Road, Mukono Hill | Tel: +256 (0) 312 350 800 Email: </a:t>
            </a:r>
            <a:r>
              <a:rPr b="0" sz="700" u="sng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hlinkClick r:id="rId3" invalidUrl="" action="" tgtFrame="" tooltip="" history="1" highlightClick="0" endSnd="0"/>
              </a:rPr>
              <a:t>info@ucu.ac.ug</a:t>
            </a:r>
            <a:r>
              <a:rPr b="0" sz="700">
                <a:solidFill>
                  <a:srgbClr val="0000FF"/>
                </a:solidFill>
              </a:rPr>
              <a:t> </a:t>
            </a:r>
            <a:r>
              <a:rPr b="0" sz="700">
                <a:solidFill>
                  <a:srgbClr val="000000"/>
                </a:solidFill>
              </a:rPr>
              <a:t>Web: </a:t>
            </a:r>
            <a:r>
              <a:rPr b="0" sz="700" u="sng">
                <a:solidFill>
                  <a:srgbClr val="0000FF"/>
                </a:solidFill>
              </a:rPr>
              <a:t>https://</a:t>
            </a:r>
            <a:r>
              <a:rPr b="0" sz="700" u="sng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hlinkClick r:id="rId4" invalidUrl="" action="" tgtFrame="" tooltip="" history="1" highlightClick="0" endSnd="0"/>
              </a:rPr>
              <a:t>ucu.ac.ug</a:t>
            </a:r>
            <a:endParaRPr sz="700" u="sng">
              <a:solidFill>
                <a:srgbClr val="0000FF"/>
              </a:solidFill>
            </a:endParaRPr>
          </a:p>
          <a:p>
            <a:pPr algn="ctr">
              <a:defRPr sz="60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Founded by the Province of the Church of Uganda. Chartered by the Government of Uganda</a:t>
            </a:r>
          </a:p>
        </p:txBody>
      </p:sp>
      <p:sp>
        <p:nvSpPr>
          <p:cNvPr id="203" name="Google Shape;19;p10"/>
          <p:cNvSpPr/>
          <p:nvPr/>
        </p:nvSpPr>
        <p:spPr>
          <a:xfrm>
            <a:off x="0" y="6395027"/>
            <a:ext cx="12192001" cy="1"/>
          </a:xfrm>
          <a:prstGeom prst="line">
            <a:avLst/>
          </a:prstGeom>
          <a:ln w="12700">
            <a:solidFill>
              <a:srgbClr val="D70167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204" name="Google Shape;20;p10" descr="Google Shape;20;p10"/>
          <p:cNvPicPr>
            <a:picLocks noChangeAspect="1"/>
          </p:cNvPicPr>
          <p:nvPr/>
        </p:nvPicPr>
        <p:blipFill>
          <a:blip r:embed="rId5">
            <a:extLst/>
          </a:blip>
          <a:srcRect l="0" t="0" r="0" b="42643"/>
          <a:stretch>
            <a:fillRect/>
          </a:stretch>
        </p:blipFill>
        <p:spPr>
          <a:xfrm>
            <a:off x="0" y="5412966"/>
            <a:ext cx="1162290" cy="1445034"/>
          </a:xfrm>
          <a:prstGeom prst="rect">
            <a:avLst/>
          </a:prstGeom>
          <a:ln w="12700">
            <a:miter lim="400000"/>
          </a:ln>
        </p:spPr>
      </p:pic>
      <p:sp>
        <p:nvSpPr>
          <p:cNvPr id="205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06" name="Body Level One…"/>
          <p:cNvSpPr txBox="1"/>
          <p:nvPr>
            <p:ph type="body" idx="1"/>
          </p:nvPr>
        </p:nvSpPr>
        <p:spPr>
          <a:xfrm rot="5400000">
            <a:off x="3851275" y="-1325562"/>
            <a:ext cx="4489450" cy="10515601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10;p10" descr="Google Shape;10;p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76790" y="0"/>
            <a:ext cx="2415210" cy="735885"/>
          </a:xfrm>
          <a:prstGeom prst="rect">
            <a:avLst/>
          </a:prstGeom>
          <a:ln w="12700">
            <a:miter lim="400000"/>
          </a:ln>
        </p:spPr>
      </p:pic>
      <p:sp>
        <p:nvSpPr>
          <p:cNvPr id="215" name="Google Shape;13;p10"/>
          <p:cNvSpPr/>
          <p:nvPr/>
        </p:nvSpPr>
        <p:spPr>
          <a:xfrm>
            <a:off x="838200" y="1508125"/>
            <a:ext cx="11353800" cy="179388"/>
          </a:xfrm>
          <a:prstGeom prst="rect">
            <a:avLst/>
          </a:prstGeom>
          <a:solidFill>
            <a:srgbClr val="0B3D9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216" name="Google Shape;14;p10"/>
          <p:cNvSpPr/>
          <p:nvPr/>
        </p:nvSpPr>
        <p:spPr>
          <a:xfrm>
            <a:off x="0" y="1508125"/>
            <a:ext cx="838200" cy="179388"/>
          </a:xfrm>
          <a:prstGeom prst="rect">
            <a:avLst/>
          </a:prstGeom>
          <a:solidFill>
            <a:srgbClr val="D7014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217" name="Google Shape;15;p10"/>
          <p:cNvSpPr/>
          <p:nvPr/>
        </p:nvSpPr>
        <p:spPr>
          <a:xfrm>
            <a:off x="838200" y="1508124"/>
            <a:ext cx="838200" cy="179389"/>
          </a:xfrm>
          <a:prstGeom prst="rect">
            <a:avLst/>
          </a:prstGeom>
          <a:solidFill>
            <a:srgbClr val="FFD93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218" name="Google Shape;18;p10"/>
          <p:cNvSpPr txBox="1"/>
          <p:nvPr/>
        </p:nvSpPr>
        <p:spPr>
          <a:xfrm>
            <a:off x="2162624" y="6356349"/>
            <a:ext cx="7425979" cy="42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 algn="ctr">
              <a:defRPr b="1" sz="800">
                <a:solidFill>
                  <a:srgbClr val="0B3D91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A Complete Education for A Complete Person</a:t>
            </a:r>
            <a:br/>
            <a:r>
              <a:rPr b="0" sz="700">
                <a:solidFill>
                  <a:srgbClr val="000000"/>
                </a:solidFill>
              </a:rPr>
              <a:t>P.O. Box 4, Mukono, Uganda, Plot 67-173, Bishop Tucker Road, Mukono Hill | Tel: +256 (0) 312 350 800 Email: </a:t>
            </a:r>
            <a:r>
              <a:rPr b="0" sz="700" u="sng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hlinkClick r:id="rId3" invalidUrl="" action="" tgtFrame="" tooltip="" history="1" highlightClick="0" endSnd="0"/>
              </a:rPr>
              <a:t>info@ucu.ac.ug</a:t>
            </a:r>
            <a:r>
              <a:rPr b="0" sz="700">
                <a:solidFill>
                  <a:srgbClr val="0000FF"/>
                </a:solidFill>
              </a:rPr>
              <a:t> </a:t>
            </a:r>
            <a:r>
              <a:rPr b="0" sz="700">
                <a:solidFill>
                  <a:srgbClr val="000000"/>
                </a:solidFill>
              </a:rPr>
              <a:t>Web: </a:t>
            </a:r>
            <a:r>
              <a:rPr b="0" sz="700" u="sng">
                <a:solidFill>
                  <a:srgbClr val="0000FF"/>
                </a:solidFill>
              </a:rPr>
              <a:t>https://</a:t>
            </a:r>
            <a:r>
              <a:rPr b="0" sz="700" u="sng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hlinkClick r:id="rId4" invalidUrl="" action="" tgtFrame="" tooltip="" history="1" highlightClick="0" endSnd="0"/>
              </a:rPr>
              <a:t>ucu.ac.ug</a:t>
            </a:r>
            <a:endParaRPr sz="700" u="sng">
              <a:solidFill>
                <a:srgbClr val="0000FF"/>
              </a:solidFill>
            </a:endParaRPr>
          </a:p>
          <a:p>
            <a:pPr algn="ctr">
              <a:defRPr sz="60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Founded by the Province of the Church of Uganda. Chartered by the Government of Uganda</a:t>
            </a:r>
          </a:p>
        </p:txBody>
      </p:sp>
      <p:sp>
        <p:nvSpPr>
          <p:cNvPr id="219" name="Google Shape;19;p10"/>
          <p:cNvSpPr/>
          <p:nvPr/>
        </p:nvSpPr>
        <p:spPr>
          <a:xfrm>
            <a:off x="0" y="6395027"/>
            <a:ext cx="12192001" cy="1"/>
          </a:xfrm>
          <a:prstGeom prst="line">
            <a:avLst/>
          </a:prstGeom>
          <a:ln w="12700">
            <a:solidFill>
              <a:srgbClr val="D70167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220" name="Google Shape;20;p10" descr="Google Shape;20;p10"/>
          <p:cNvPicPr>
            <a:picLocks noChangeAspect="1"/>
          </p:cNvPicPr>
          <p:nvPr/>
        </p:nvPicPr>
        <p:blipFill>
          <a:blip r:embed="rId5">
            <a:extLst/>
          </a:blip>
          <a:srcRect l="0" t="0" r="0" b="42643"/>
          <a:stretch>
            <a:fillRect/>
          </a:stretch>
        </p:blipFill>
        <p:spPr>
          <a:xfrm>
            <a:off x="0" y="5412966"/>
            <a:ext cx="1162290" cy="1445034"/>
          </a:xfrm>
          <a:prstGeom prst="rect">
            <a:avLst/>
          </a:prstGeom>
          <a:ln w="12700">
            <a:miter lim="400000"/>
          </a:ln>
        </p:spPr>
      </p:pic>
      <p:sp>
        <p:nvSpPr>
          <p:cNvPr id="221" name="Title Text"/>
          <p:cNvSpPr txBox="1"/>
          <p:nvPr>
            <p:ph type="title"/>
          </p:nvPr>
        </p:nvSpPr>
        <p:spPr>
          <a:xfrm rot="5400000">
            <a:off x="7133431" y="1956593"/>
            <a:ext cx="5811839" cy="26289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22" name="Body Level One…"/>
          <p:cNvSpPr txBox="1"/>
          <p:nvPr>
            <p:ph type="body" idx="1"/>
          </p:nvPr>
        </p:nvSpPr>
        <p:spPr>
          <a:xfrm rot="5400000">
            <a:off x="1799431" y="-596107"/>
            <a:ext cx="5811838" cy="7734301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hyperlink" Target="mailto:info@ucu.ac.ug" TargetMode="External"/><Relationship Id="rId4" Type="http://schemas.openxmlformats.org/officeDocument/2006/relationships/hyperlink" Target="http://www.ucu.ac.ug/" TargetMode="External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1.xml"/><Relationship Id="rId7" Type="http://schemas.openxmlformats.org/officeDocument/2006/relationships/slideLayout" Target="../slideLayouts/slideLayout2.xml"/><Relationship Id="rId8" Type="http://schemas.openxmlformats.org/officeDocument/2006/relationships/slideLayout" Target="../slideLayouts/slideLayout3.xml"/><Relationship Id="rId9" Type="http://schemas.openxmlformats.org/officeDocument/2006/relationships/slideLayout" Target="../slideLayouts/slideLayout4.xml"/><Relationship Id="rId10" Type="http://schemas.openxmlformats.org/officeDocument/2006/relationships/slideLayout" Target="../slideLayouts/slideLayout5.xml"/><Relationship Id="rId11" Type="http://schemas.openxmlformats.org/officeDocument/2006/relationships/slideLayout" Target="../slideLayouts/slideLayout6.xml"/><Relationship Id="rId12" Type="http://schemas.openxmlformats.org/officeDocument/2006/relationships/slideLayout" Target="../slideLayouts/slideLayout7.xml"/><Relationship Id="rId13" Type="http://schemas.openxmlformats.org/officeDocument/2006/relationships/slideLayout" Target="../slideLayouts/slideLayout8.xml"/><Relationship Id="rId14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11.xml"/><Relationship Id="rId17" Type="http://schemas.openxmlformats.org/officeDocument/2006/relationships/slideLayout" Target="../slideLayouts/slideLayout1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;p10" descr="Google Shape;10;p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76790" y="0"/>
            <a:ext cx="2415210" cy="735885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Google Shape;13;p10"/>
          <p:cNvSpPr/>
          <p:nvPr/>
        </p:nvSpPr>
        <p:spPr>
          <a:xfrm>
            <a:off x="838200" y="1508125"/>
            <a:ext cx="11353800" cy="179388"/>
          </a:xfrm>
          <a:prstGeom prst="rect">
            <a:avLst/>
          </a:prstGeom>
          <a:solidFill>
            <a:srgbClr val="0B3D9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4" name="Google Shape;14;p10"/>
          <p:cNvSpPr/>
          <p:nvPr/>
        </p:nvSpPr>
        <p:spPr>
          <a:xfrm>
            <a:off x="0" y="1508125"/>
            <a:ext cx="838200" cy="179388"/>
          </a:xfrm>
          <a:prstGeom prst="rect">
            <a:avLst/>
          </a:prstGeom>
          <a:solidFill>
            <a:srgbClr val="D7014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5" name="Google Shape;15;p10"/>
          <p:cNvSpPr/>
          <p:nvPr/>
        </p:nvSpPr>
        <p:spPr>
          <a:xfrm>
            <a:off x="838200" y="1508124"/>
            <a:ext cx="838200" cy="179389"/>
          </a:xfrm>
          <a:prstGeom prst="rect">
            <a:avLst/>
          </a:prstGeom>
          <a:solidFill>
            <a:srgbClr val="FFD93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6" name="Google Shape;18;p10"/>
          <p:cNvSpPr txBox="1"/>
          <p:nvPr/>
        </p:nvSpPr>
        <p:spPr>
          <a:xfrm>
            <a:off x="2162624" y="6356349"/>
            <a:ext cx="7425979" cy="42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 algn="ctr">
              <a:defRPr b="1" sz="800">
                <a:solidFill>
                  <a:srgbClr val="0B3D91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A Complete Education for A Complete Person</a:t>
            </a:r>
            <a:br/>
            <a:r>
              <a:rPr b="0" sz="700">
                <a:solidFill>
                  <a:srgbClr val="000000"/>
                </a:solidFill>
              </a:rPr>
              <a:t>P.O. Box 4, Mukono, Uganda, Plot 67-173, Bishop Tucker Road, Mukono Hill | Tel: +256 (0) 312 350 800 Email: </a:t>
            </a:r>
            <a:r>
              <a:rPr b="0" sz="700" u="sng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hlinkClick r:id="rId3" invalidUrl="" action="" tgtFrame="" tooltip="" history="1" highlightClick="0" endSnd="0"/>
              </a:rPr>
              <a:t>info@ucu.ac.ug</a:t>
            </a:r>
            <a:r>
              <a:rPr b="0" sz="700">
                <a:solidFill>
                  <a:srgbClr val="0000FF"/>
                </a:solidFill>
              </a:rPr>
              <a:t> </a:t>
            </a:r>
            <a:r>
              <a:rPr b="0" sz="700">
                <a:solidFill>
                  <a:srgbClr val="000000"/>
                </a:solidFill>
              </a:rPr>
              <a:t>Web: </a:t>
            </a:r>
            <a:r>
              <a:rPr b="0" sz="700" u="sng">
                <a:solidFill>
                  <a:srgbClr val="0000FF"/>
                </a:solidFill>
              </a:rPr>
              <a:t>https://</a:t>
            </a:r>
            <a:r>
              <a:rPr b="0" sz="700" u="sng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hlinkClick r:id="rId4" invalidUrl="" action="" tgtFrame="" tooltip="" history="1" highlightClick="0" endSnd="0"/>
              </a:rPr>
              <a:t>ucu.ac.ug</a:t>
            </a:r>
            <a:endParaRPr sz="700" u="sng">
              <a:solidFill>
                <a:srgbClr val="0000FF"/>
              </a:solidFill>
            </a:endParaRPr>
          </a:p>
          <a:p>
            <a:pPr algn="ctr">
              <a:defRPr sz="60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Founded by the Province of the Church of Uganda. Chartered by the Government of Uganda</a:t>
            </a:r>
          </a:p>
        </p:txBody>
      </p:sp>
      <p:sp>
        <p:nvSpPr>
          <p:cNvPr id="7" name="Google Shape;19;p10"/>
          <p:cNvSpPr/>
          <p:nvPr/>
        </p:nvSpPr>
        <p:spPr>
          <a:xfrm>
            <a:off x="0" y="6395027"/>
            <a:ext cx="12192001" cy="1"/>
          </a:xfrm>
          <a:prstGeom prst="line">
            <a:avLst/>
          </a:prstGeom>
          <a:ln w="12700">
            <a:solidFill>
              <a:srgbClr val="D70167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8" name="Google Shape;20;p10" descr="Google Shape;20;p10"/>
          <p:cNvPicPr>
            <a:picLocks noChangeAspect="1"/>
          </p:cNvPicPr>
          <p:nvPr/>
        </p:nvPicPr>
        <p:blipFill>
          <a:blip r:embed="rId5">
            <a:extLst/>
          </a:blip>
          <a:srcRect l="0" t="0" r="0" b="42643"/>
          <a:stretch>
            <a:fillRect/>
          </a:stretch>
        </p:blipFill>
        <p:spPr>
          <a:xfrm>
            <a:off x="0" y="5412966"/>
            <a:ext cx="1162290" cy="1445034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Title Text"/>
          <p:cNvSpPr txBox="1"/>
          <p:nvPr>
            <p:ph type="title"/>
          </p:nvPr>
        </p:nvSpPr>
        <p:spPr>
          <a:xfrm>
            <a:off x="838200" y="365125"/>
            <a:ext cx="10515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10" name="Body Level One…"/>
          <p:cNvSpPr txBox="1"/>
          <p:nvPr>
            <p:ph type="body" idx="1"/>
          </p:nvPr>
        </p:nvSpPr>
        <p:spPr>
          <a:xfrm>
            <a:off x="838200" y="1687514"/>
            <a:ext cx="10515600" cy="4489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" name="Slide Number"/>
          <p:cNvSpPr txBox="1"/>
          <p:nvPr>
            <p:ph type="sldNum" sz="quarter" idx="2"/>
          </p:nvPr>
        </p:nvSpPr>
        <p:spPr>
          <a:xfrm>
            <a:off x="11089858" y="6404312"/>
            <a:ext cx="263942" cy="269201"/>
          </a:xfrm>
          <a:prstGeom prst="rect">
            <a:avLst/>
          </a:prstGeom>
          <a:ln w="12700">
            <a:miter lim="400000"/>
          </a:ln>
        </p:spPr>
        <p:txBody>
          <a:bodyPr wrap="none" lIns="45699" tIns="45699" rIns="45699" bIns="45699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59" r:id="rId16"/>
    <p:sldLayoutId id="2147483660" r:id="rId17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1F497D"/>
          </a:solidFill>
          <a:uFillTx/>
          <a:latin typeface="Trebuchet MS"/>
          <a:ea typeface="Trebuchet MS"/>
          <a:cs typeface="Trebuchet MS"/>
          <a:sym typeface="Trebuchet MS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1F497D"/>
          </a:solidFill>
          <a:uFillTx/>
          <a:latin typeface="Trebuchet MS"/>
          <a:ea typeface="Trebuchet MS"/>
          <a:cs typeface="Trebuchet MS"/>
          <a:sym typeface="Trebuchet MS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1F497D"/>
          </a:solidFill>
          <a:uFillTx/>
          <a:latin typeface="Trebuchet MS"/>
          <a:ea typeface="Trebuchet MS"/>
          <a:cs typeface="Trebuchet MS"/>
          <a:sym typeface="Trebuchet MS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1F497D"/>
          </a:solidFill>
          <a:uFillTx/>
          <a:latin typeface="Trebuchet MS"/>
          <a:ea typeface="Trebuchet MS"/>
          <a:cs typeface="Trebuchet MS"/>
          <a:sym typeface="Trebuchet MS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1F497D"/>
          </a:solidFill>
          <a:uFillTx/>
          <a:latin typeface="Trebuchet MS"/>
          <a:ea typeface="Trebuchet MS"/>
          <a:cs typeface="Trebuchet MS"/>
          <a:sym typeface="Trebuchet MS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1F497D"/>
          </a:solidFill>
          <a:uFillTx/>
          <a:latin typeface="Trebuchet MS"/>
          <a:ea typeface="Trebuchet MS"/>
          <a:cs typeface="Trebuchet MS"/>
          <a:sym typeface="Trebuchet MS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1F497D"/>
          </a:solidFill>
          <a:uFillTx/>
          <a:latin typeface="Trebuchet MS"/>
          <a:ea typeface="Trebuchet MS"/>
          <a:cs typeface="Trebuchet MS"/>
          <a:sym typeface="Trebuchet MS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1F497D"/>
          </a:solidFill>
          <a:uFillTx/>
          <a:latin typeface="Trebuchet MS"/>
          <a:ea typeface="Trebuchet MS"/>
          <a:cs typeface="Trebuchet MS"/>
          <a:sym typeface="Trebuchet MS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1F497D"/>
          </a:solidFill>
          <a:uFillTx/>
          <a:latin typeface="Trebuchet MS"/>
          <a:ea typeface="Trebuchet MS"/>
          <a:cs typeface="Trebuchet MS"/>
          <a:sym typeface="Trebuchet MS"/>
        </a:defRPr>
      </a:lvl9pPr>
    </p:titleStyle>
    <p:bodyStyle>
      <a:lvl1pPr marL="457200" marR="0" indent="-3429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D7014D"/>
        </a:buClr>
        <a:buSzPts val="2800"/>
        <a:buFont typeface="Helvetica"/>
        <a:buChar char="❑"/>
        <a:tabLst/>
        <a:defRPr b="0" baseline="0" cap="none" i="0" spc="0" strike="noStrike" sz="2800" u="none">
          <a:solidFill>
            <a:srgbClr val="000000"/>
          </a:solidFill>
          <a:uFillTx/>
          <a:latin typeface="Trebuchet MS"/>
          <a:ea typeface="Trebuchet MS"/>
          <a:cs typeface="Trebuchet MS"/>
          <a:sym typeface="Trebuchet MS"/>
        </a:defRPr>
      </a:lvl1pPr>
      <a:lvl2pPr marL="970597" marR="0" indent="-393382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D7014D"/>
        </a:buClr>
        <a:buSzPts val="2800"/>
        <a:buFont typeface="Helvetica"/>
        <a:buChar char="❑"/>
        <a:tabLst/>
        <a:defRPr b="0" baseline="0" cap="none" i="0" spc="0" strike="noStrike" sz="2800" u="none">
          <a:solidFill>
            <a:srgbClr val="000000"/>
          </a:solidFill>
          <a:uFillTx/>
          <a:latin typeface="Trebuchet MS"/>
          <a:ea typeface="Trebuchet MS"/>
          <a:cs typeface="Trebuchet MS"/>
          <a:sym typeface="Trebuchet MS"/>
        </a:defRPr>
      </a:lvl2pPr>
      <a:lvl3pPr marL="1504187" marR="0" indent="-464056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D7014D"/>
        </a:buClr>
        <a:buSzPts val="2800"/>
        <a:buFont typeface="Helvetica"/>
        <a:buChar char="❑"/>
        <a:tabLst/>
        <a:defRPr b="0" baseline="0" cap="none" i="0" spc="0" strike="noStrike" sz="2800" u="none">
          <a:solidFill>
            <a:srgbClr val="000000"/>
          </a:solidFill>
          <a:uFillTx/>
          <a:latin typeface="Trebuchet MS"/>
          <a:ea typeface="Trebuchet MS"/>
          <a:cs typeface="Trebuchet MS"/>
          <a:sym typeface="Trebuchet MS"/>
        </a:defRPr>
      </a:lvl3pPr>
      <a:lvl4pPr marL="2011679" marR="0" indent="-512062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D7014D"/>
        </a:buClr>
        <a:buSzPts val="2800"/>
        <a:buFont typeface="Helvetica"/>
        <a:buChar char="❑"/>
        <a:tabLst/>
        <a:defRPr b="0" baseline="0" cap="none" i="0" spc="0" strike="noStrike" sz="2800" u="none">
          <a:solidFill>
            <a:srgbClr val="000000"/>
          </a:solidFill>
          <a:uFillTx/>
          <a:latin typeface="Trebuchet MS"/>
          <a:ea typeface="Trebuchet MS"/>
          <a:cs typeface="Trebuchet MS"/>
          <a:sym typeface="Trebuchet MS"/>
        </a:defRPr>
      </a:lvl4pPr>
      <a:lvl5pPr marL="2467610" marR="0" indent="-508508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D7014D"/>
        </a:buClr>
        <a:buSzPts val="2800"/>
        <a:buFont typeface="Helvetica"/>
        <a:buChar char="❑"/>
        <a:tabLst/>
        <a:defRPr b="0" baseline="0" cap="none" i="0" spc="0" strike="noStrike" sz="2800" u="none">
          <a:solidFill>
            <a:srgbClr val="000000"/>
          </a:solidFill>
          <a:uFillTx/>
          <a:latin typeface="Trebuchet MS"/>
          <a:ea typeface="Trebuchet MS"/>
          <a:cs typeface="Trebuchet MS"/>
          <a:sym typeface="Trebuchet MS"/>
        </a:defRPr>
      </a:lvl5pPr>
      <a:lvl6pPr marL="29337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D7014D"/>
        </a:buClr>
        <a:buSzPts val="2800"/>
        <a:buFont typeface="Helvetica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Trebuchet MS"/>
          <a:ea typeface="Trebuchet MS"/>
          <a:cs typeface="Trebuchet MS"/>
          <a:sym typeface="Trebuchet MS"/>
        </a:defRPr>
      </a:lvl6pPr>
      <a:lvl7pPr marL="33909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D7014D"/>
        </a:buClr>
        <a:buSzPts val="2800"/>
        <a:buFont typeface="Helvetica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Trebuchet MS"/>
          <a:ea typeface="Trebuchet MS"/>
          <a:cs typeface="Trebuchet MS"/>
          <a:sym typeface="Trebuchet MS"/>
        </a:defRPr>
      </a:lvl7pPr>
      <a:lvl8pPr marL="38481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D7014D"/>
        </a:buClr>
        <a:buSzPts val="2800"/>
        <a:buFont typeface="Helvetica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Trebuchet MS"/>
          <a:ea typeface="Trebuchet MS"/>
          <a:cs typeface="Trebuchet MS"/>
          <a:sym typeface="Trebuchet MS"/>
        </a:defRPr>
      </a:lvl8pPr>
      <a:lvl9pPr marL="43053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D7014D"/>
        </a:buClr>
        <a:buSzPts val="2800"/>
        <a:buFont typeface="Helvetica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Trebuchet MS"/>
          <a:ea typeface="Trebuchet MS"/>
          <a:cs typeface="Trebuchet MS"/>
          <a:sym typeface="Trebuchet MS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1.tif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2.tif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3.tif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4.tif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127;p1"/>
          <p:cNvSpPr txBox="1"/>
          <p:nvPr>
            <p:ph type="subTitle" sz="quarter" idx="1"/>
          </p:nvPr>
        </p:nvSpPr>
        <p:spPr>
          <a:xfrm>
            <a:off x="1524000" y="3602037"/>
            <a:ext cx="9144000" cy="1655762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</a:lvl1pPr>
          </a:lstStyle>
          <a:p>
            <a:pPr/>
            <a:r>
              <a:t>Topic: Introduction to Software Construction</a:t>
            </a:r>
          </a:p>
        </p:txBody>
      </p:sp>
      <p:sp>
        <p:nvSpPr>
          <p:cNvPr id="233" name="Google Shape;128;p1"/>
          <p:cNvSpPr/>
          <p:nvPr/>
        </p:nvSpPr>
        <p:spPr>
          <a:xfrm>
            <a:off x="1007534" y="5551742"/>
            <a:ext cx="3733801" cy="82038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lIns="0" tIns="0" rIns="0" bIns="0"/>
          <a:lstStyle/>
          <a:p>
            <a:pPr>
              <a:defRPr sz="1800"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sp>
        <p:nvSpPr>
          <p:cNvPr id="234" name="Google Shape;129;p1"/>
          <p:cNvSpPr txBox="1"/>
          <p:nvPr/>
        </p:nvSpPr>
        <p:spPr>
          <a:xfrm>
            <a:off x="982726" y="5625507"/>
            <a:ext cx="3712883" cy="7403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/>
          <a:p>
            <a:pPr>
              <a:lnSpc>
                <a:spcPct val="90000"/>
              </a:lnSpc>
              <a:defRPr sz="2000"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Simon Fred Lubambo</a:t>
            </a:r>
            <a:endParaRPr i="1" sz="1200"/>
          </a:p>
          <a:p>
            <a:pPr>
              <a:lnSpc>
                <a:spcPct val="90000"/>
              </a:lnSpc>
              <a:defRPr b="1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Department of Computing &amp; Technology</a:t>
            </a:r>
          </a:p>
          <a:p>
            <a:pPr>
              <a:lnSpc>
                <a:spcPct val="90000"/>
              </a:lnSpc>
              <a:defRPr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Faculty of Engineering, Design &amp; Technology</a:t>
            </a:r>
          </a:p>
        </p:txBody>
      </p:sp>
      <p:sp>
        <p:nvSpPr>
          <p:cNvPr id="235" name="Google Shape;130;p1"/>
          <p:cNvSpPr/>
          <p:nvPr/>
        </p:nvSpPr>
        <p:spPr>
          <a:xfrm>
            <a:off x="0" y="2156859"/>
            <a:ext cx="12192001" cy="1325564"/>
          </a:xfrm>
          <a:prstGeom prst="rect">
            <a:avLst/>
          </a:prstGeom>
          <a:solidFill>
            <a:srgbClr val="0A3D91"/>
          </a:solidFill>
          <a:ln>
            <a:solidFill>
              <a:srgbClr val="0A3D91"/>
            </a:solidFill>
          </a:ln>
        </p:spPr>
        <p:txBody>
          <a:bodyPr lIns="0" tIns="0" rIns="0" bIns="0" anchor="ctr"/>
          <a:lstStyle/>
          <a:p>
            <a:pPr algn="ctr">
              <a:lnSpc>
                <a:spcPct val="90000"/>
              </a:lnSpc>
              <a:defRPr sz="2800">
                <a:solidFill>
                  <a:srgbClr val="FFFF00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</a:p>
        </p:txBody>
      </p:sp>
      <p:grpSp>
        <p:nvGrpSpPr>
          <p:cNvPr id="238" name="Google Shape;131;p1"/>
          <p:cNvGrpSpPr/>
          <p:nvPr/>
        </p:nvGrpSpPr>
        <p:grpSpPr>
          <a:xfrm>
            <a:off x="0" y="2181298"/>
            <a:ext cx="12192001" cy="889482"/>
            <a:chOff x="0" y="0"/>
            <a:chExt cx="12191999" cy="889480"/>
          </a:xfrm>
        </p:grpSpPr>
        <p:sp>
          <p:nvSpPr>
            <p:cNvPr id="236" name="Rectangle"/>
            <p:cNvSpPr/>
            <p:nvPr/>
          </p:nvSpPr>
          <p:spPr>
            <a:xfrm>
              <a:off x="-1" y="0"/>
              <a:ext cx="12192001" cy="889481"/>
            </a:xfrm>
            <a:prstGeom prst="rect">
              <a:avLst/>
            </a:prstGeom>
            <a:noFill/>
            <a:ln w="9525" cap="flat">
              <a:solidFill>
                <a:srgbClr val="0A3D91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37" name="SYE3209: Software Construction"/>
            <p:cNvSpPr txBox="1"/>
            <p:nvPr/>
          </p:nvSpPr>
          <p:spPr>
            <a:xfrm>
              <a:off x="50487" y="43440"/>
              <a:ext cx="12091025" cy="802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lnSpc>
                  <a:spcPct val="90000"/>
                </a:lnSpc>
                <a:defRPr sz="48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lvl1pPr>
            </a:lstStyle>
            <a:p>
              <a:pPr/>
              <a:r>
                <a:t>SYE3209: Software Construction</a:t>
              </a:r>
            </a:p>
          </p:txBody>
        </p:sp>
      </p:grpSp>
      <p:grpSp>
        <p:nvGrpSpPr>
          <p:cNvPr id="241" name="Google Shape;132;p1"/>
          <p:cNvGrpSpPr/>
          <p:nvPr/>
        </p:nvGrpSpPr>
        <p:grpSpPr>
          <a:xfrm>
            <a:off x="-3" y="2819880"/>
            <a:ext cx="12192001" cy="609121"/>
            <a:chOff x="0" y="0"/>
            <a:chExt cx="12191999" cy="609119"/>
          </a:xfrm>
        </p:grpSpPr>
        <p:sp>
          <p:nvSpPr>
            <p:cNvPr id="239" name="Rectangle"/>
            <p:cNvSpPr/>
            <p:nvPr/>
          </p:nvSpPr>
          <p:spPr>
            <a:xfrm>
              <a:off x="-1" y="0"/>
              <a:ext cx="12192001" cy="609120"/>
            </a:xfrm>
            <a:prstGeom prst="rect">
              <a:avLst/>
            </a:prstGeom>
            <a:noFill/>
            <a:ln w="9525" cap="flat">
              <a:solidFill>
                <a:srgbClr val="0A3D91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lnSpc>
                  <a:spcPct val="90000"/>
                </a:lnSpc>
                <a:defRPr sz="2800">
                  <a:solidFill>
                    <a:srgbClr val="FFFF00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</a:p>
          </p:txBody>
        </p:sp>
        <p:sp>
          <p:nvSpPr>
            <p:cNvPr id="240" name="Lecture 01 (BSCS II &amp; III)"/>
            <p:cNvSpPr txBox="1"/>
            <p:nvPr/>
          </p:nvSpPr>
          <p:spPr>
            <a:xfrm>
              <a:off x="50487" y="55660"/>
              <a:ext cx="12091025" cy="497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lnSpc>
                  <a:spcPct val="90000"/>
                </a:lnSpc>
                <a:defRPr sz="2800">
                  <a:solidFill>
                    <a:srgbClr val="FFFF00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lvl1pPr>
            </a:lstStyle>
            <a:p>
              <a:pPr/>
              <a:r>
                <a:t>Lecture 01 (BSCS II &amp; III)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138;p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900"/>
            </a:lvl1pPr>
          </a:lstStyle>
          <a:p>
            <a:pPr/>
            <a:r>
              <a:t>Lecture Objectives and Learning outcomes</a:t>
            </a:r>
          </a:p>
        </p:txBody>
      </p:sp>
      <p:sp>
        <p:nvSpPr>
          <p:cNvPr id="244" name="Google Shape;139;p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630936">
              <a:spcBef>
                <a:spcPts val="0"/>
              </a:spcBef>
              <a:buSzTx/>
              <a:buNone/>
              <a:defRPr sz="1932"/>
            </a:pPr>
            <a:r>
              <a:t>The Objectives of this lecture are :</a:t>
            </a:r>
            <a:endParaRPr sz="1656"/>
          </a:p>
          <a:p>
            <a:pPr marL="135200" indent="-135200" defTabSz="630936">
              <a:spcBef>
                <a:spcPts val="600"/>
              </a:spcBef>
              <a:buSzPts val="1600"/>
              <a:defRPr sz="1932"/>
            </a:pPr>
            <a:r>
              <a:rPr sz="1656"/>
              <a:t> </a:t>
            </a:r>
            <a:r>
              <a:rPr b="1"/>
              <a:t>Explain</a:t>
            </a:r>
            <a:r>
              <a:t> the concept and scope of Software Construction within the software development lifecycle.</a:t>
            </a:r>
          </a:p>
          <a:p>
            <a:pPr marL="157734" indent="-157734" defTabSz="630936">
              <a:spcBef>
                <a:spcPts val="600"/>
              </a:spcBef>
              <a:buSzPts val="1900"/>
              <a:defRPr sz="1932"/>
            </a:pPr>
            <a:r>
              <a:t> </a:t>
            </a:r>
            <a:r>
              <a:rPr b="1"/>
              <a:t>Differentiate</a:t>
            </a:r>
            <a:r>
              <a:t> between programming and software construction using real-world examples.</a:t>
            </a:r>
          </a:p>
          <a:p>
            <a:pPr marL="0" indent="0" defTabSz="630936">
              <a:spcBef>
                <a:spcPts val="600"/>
              </a:spcBef>
              <a:buSzTx/>
              <a:buNone/>
              <a:defRPr sz="1932"/>
            </a:pPr>
          </a:p>
          <a:p>
            <a:pPr marL="0" indent="0" defTabSz="630936">
              <a:spcBef>
                <a:spcPts val="600"/>
              </a:spcBef>
              <a:buSzTx/>
              <a:buNone/>
              <a:defRPr sz="1932"/>
            </a:pPr>
            <a:r>
              <a:t>By the end of this lecture, students should be able to</a:t>
            </a:r>
          </a:p>
          <a:p>
            <a:pPr marL="0" indent="0" defTabSz="630936">
              <a:spcBef>
                <a:spcPts val="600"/>
              </a:spcBef>
              <a:buSzTx/>
              <a:buNone/>
              <a:defRPr sz="1932"/>
            </a:pPr>
          </a:p>
          <a:p>
            <a:pPr marL="157734" indent="-157734" defTabSz="630936">
              <a:spcBef>
                <a:spcPts val="600"/>
              </a:spcBef>
              <a:buSzPts val="1900"/>
              <a:defRPr sz="1932"/>
            </a:pPr>
            <a:r>
              <a:t> Clearly distinguish between programming and software construction in theory and practice.</a:t>
            </a:r>
          </a:p>
          <a:p>
            <a:pPr marL="157734" indent="-157734" defTabSz="630936">
              <a:spcBef>
                <a:spcPts val="600"/>
              </a:spcBef>
              <a:buSzPts val="1900"/>
              <a:defRPr sz="1932"/>
            </a:pPr>
            <a:r>
              <a:t> Explain why software systems must be designed for evolution and maintainability</a:t>
            </a:r>
            <a:r>
              <a:t>.</a:t>
            </a:r>
          </a:p>
          <a:p>
            <a:pPr marL="157734" indent="-157734" defTabSz="630936">
              <a:spcBef>
                <a:spcPts val="600"/>
              </a:spcBef>
              <a:buSzPts val="1900"/>
              <a:defRPr sz="1932"/>
            </a:pPr>
            <a:r>
              <a:t> </a:t>
            </a:r>
            <a:r>
              <a:rPr b="1"/>
              <a:t>Describe the role of professional tools</a:t>
            </a:r>
            <a:r>
              <a:t> such as GitHub in modern software construction.</a:t>
            </a:r>
          </a:p>
          <a:p>
            <a:pPr marL="157734" indent="-157734" defTabSz="630936">
              <a:spcBef>
                <a:spcPts val="600"/>
              </a:spcBef>
              <a:buSzPts val="1900"/>
              <a:defRPr sz="1932"/>
            </a:pPr>
            <a:r>
              <a:t> Demonstrate awareness of responsible AI use</a:t>
            </a:r>
            <a:r>
              <a:t> in understanding and working with code.</a:t>
            </a:r>
          </a:p>
          <a:p>
            <a:pPr marL="157734" indent="-157734" defTabSz="630936">
              <a:spcBef>
                <a:spcPts val="600"/>
              </a:spcBef>
              <a:buSzPts val="1900"/>
              <a:defRPr sz="1932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144;p3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Lecture Overview</a:t>
            </a:r>
          </a:p>
        </p:txBody>
      </p:sp>
      <p:grpSp>
        <p:nvGrpSpPr>
          <p:cNvPr id="263" name="Google Shape;145;p3"/>
          <p:cNvGrpSpPr/>
          <p:nvPr/>
        </p:nvGrpSpPr>
        <p:grpSpPr>
          <a:xfrm>
            <a:off x="1633420" y="1720276"/>
            <a:ext cx="7465435" cy="4742966"/>
            <a:chOff x="0" y="0"/>
            <a:chExt cx="7465433" cy="4742965"/>
          </a:xfrm>
        </p:grpSpPr>
        <p:sp>
          <p:nvSpPr>
            <p:cNvPr id="247" name="Google Shape;146;p3"/>
            <p:cNvSpPr/>
            <p:nvPr/>
          </p:nvSpPr>
          <p:spPr>
            <a:xfrm>
              <a:off x="0" y="0"/>
              <a:ext cx="979356" cy="46550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63" h="21600" fill="norm" stroke="1" extrusionOk="0">
                  <a:moveTo>
                    <a:pt x="254" y="0"/>
                  </a:moveTo>
                  <a:lnTo>
                    <a:pt x="254" y="0"/>
                  </a:lnTo>
                  <a:cubicBezTo>
                    <a:pt x="21600" y="5965"/>
                    <a:pt x="21600" y="15635"/>
                    <a:pt x="254" y="21600"/>
                  </a:cubicBezTo>
                  <a:lnTo>
                    <a:pt x="0" y="21529"/>
                  </a:lnTo>
                  <a:lnTo>
                    <a:pt x="0" y="21529"/>
                  </a:lnTo>
                  <a:cubicBezTo>
                    <a:pt x="21206" y="15604"/>
                    <a:pt x="21206" y="5996"/>
                    <a:pt x="0" y="71"/>
                  </a:cubicBezTo>
                  <a:close/>
                </a:path>
              </a:pathLst>
            </a:custGeom>
            <a:noFill/>
            <a:ln w="12700" cap="flat">
              <a:solidFill>
                <a:srgbClr val="7590A5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  <p:sp>
          <p:nvSpPr>
            <p:cNvPr id="248" name="Google Shape;147;p3"/>
            <p:cNvSpPr/>
            <p:nvPr/>
          </p:nvSpPr>
          <p:spPr>
            <a:xfrm>
              <a:off x="386096" y="187960"/>
              <a:ext cx="7079338" cy="611468"/>
            </a:xfrm>
            <a:prstGeom prst="rect">
              <a:avLst/>
            </a:prstGeom>
            <a:solidFill>
              <a:srgbClr val="D7024C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  <p:sp>
          <p:nvSpPr>
            <p:cNvPr id="249" name="Google Shape;148;p3"/>
            <p:cNvSpPr txBox="1"/>
            <p:nvPr/>
          </p:nvSpPr>
          <p:spPr>
            <a:xfrm>
              <a:off x="787646" y="232094"/>
              <a:ext cx="6677788" cy="523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83800" tIns="83800" rIns="83800" bIns="83800" numCol="1" anchor="ctr">
              <a:spAutoFit/>
            </a:bodyPr>
            <a:lstStyle>
              <a:lvl1pPr>
                <a:lnSpc>
                  <a:spcPct val="90000"/>
                </a:lnSpc>
                <a:defRPr sz="24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lvl1pPr>
            </a:lstStyle>
            <a:p>
              <a:pPr/>
              <a:r>
                <a:t>Meaning and scope of Software Construction</a:t>
              </a:r>
            </a:p>
          </p:txBody>
        </p:sp>
        <p:sp>
          <p:nvSpPr>
            <p:cNvPr id="250" name="Google Shape;149;p3"/>
            <p:cNvSpPr/>
            <p:nvPr/>
          </p:nvSpPr>
          <p:spPr>
            <a:xfrm>
              <a:off x="3929" y="111526"/>
              <a:ext cx="764335" cy="764335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93B6D2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  <p:sp>
          <p:nvSpPr>
            <p:cNvPr id="251" name="Google Shape;150;p3"/>
            <p:cNvSpPr/>
            <p:nvPr/>
          </p:nvSpPr>
          <p:spPr>
            <a:xfrm>
              <a:off x="824256" y="1104867"/>
              <a:ext cx="6641178" cy="611468"/>
            </a:xfrm>
            <a:prstGeom prst="rect">
              <a:avLst/>
            </a:prstGeom>
            <a:solidFill>
              <a:srgbClr val="D7024C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  <p:sp>
          <p:nvSpPr>
            <p:cNvPr id="252" name="Google Shape;151;p3"/>
            <p:cNvSpPr txBox="1"/>
            <p:nvPr/>
          </p:nvSpPr>
          <p:spPr>
            <a:xfrm>
              <a:off x="1225806" y="1149001"/>
              <a:ext cx="6239628" cy="523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83800" tIns="83800" rIns="83800" bIns="83800" numCol="1" anchor="ctr">
              <a:spAutoFit/>
            </a:bodyPr>
            <a:lstStyle>
              <a:lvl1pPr>
                <a:lnSpc>
                  <a:spcPct val="90000"/>
                </a:lnSpc>
                <a:defRPr sz="24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lvl1pPr>
            </a:lstStyle>
            <a:p>
              <a:pPr/>
              <a:r>
                <a:t>Software Construction vs Programming</a:t>
              </a:r>
            </a:p>
          </p:txBody>
        </p:sp>
        <p:sp>
          <p:nvSpPr>
            <p:cNvPr id="253" name="Google Shape;152;p3"/>
            <p:cNvSpPr/>
            <p:nvPr/>
          </p:nvSpPr>
          <p:spPr>
            <a:xfrm>
              <a:off x="442089" y="1028434"/>
              <a:ext cx="764335" cy="764335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93B6D2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  <p:sp>
          <p:nvSpPr>
            <p:cNvPr id="254" name="Google Shape;153;p3"/>
            <p:cNvSpPr/>
            <p:nvPr/>
          </p:nvSpPr>
          <p:spPr>
            <a:xfrm>
              <a:off x="958736" y="2021775"/>
              <a:ext cx="6506698" cy="611468"/>
            </a:xfrm>
            <a:prstGeom prst="rect">
              <a:avLst/>
            </a:prstGeom>
            <a:solidFill>
              <a:srgbClr val="0A3D91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  <p:sp>
          <p:nvSpPr>
            <p:cNvPr id="255" name="Google Shape;154;p3"/>
            <p:cNvSpPr txBox="1"/>
            <p:nvPr/>
          </p:nvSpPr>
          <p:spPr>
            <a:xfrm>
              <a:off x="1360286" y="2065909"/>
              <a:ext cx="6105148" cy="523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83800" tIns="83800" rIns="83800" bIns="83800" numCol="1" anchor="ctr">
              <a:spAutoFit/>
            </a:bodyPr>
            <a:lstStyle>
              <a:lvl1pPr>
                <a:lnSpc>
                  <a:spcPct val="90000"/>
                </a:lnSpc>
                <a:defRPr sz="24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lvl1pPr>
            </a:lstStyle>
            <a:p>
              <a:pPr/>
              <a:r>
                <a:t>Software evolution and maintainability</a:t>
              </a:r>
            </a:p>
          </p:txBody>
        </p:sp>
        <p:sp>
          <p:nvSpPr>
            <p:cNvPr id="256" name="Google Shape;155;p3"/>
            <p:cNvSpPr/>
            <p:nvPr/>
          </p:nvSpPr>
          <p:spPr>
            <a:xfrm>
              <a:off x="576569" y="1945342"/>
              <a:ext cx="764335" cy="764335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93B6D2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  <p:sp>
          <p:nvSpPr>
            <p:cNvPr id="257" name="Google Shape;156;p3"/>
            <p:cNvSpPr/>
            <p:nvPr/>
          </p:nvSpPr>
          <p:spPr>
            <a:xfrm>
              <a:off x="824256" y="2938684"/>
              <a:ext cx="6641178" cy="611467"/>
            </a:xfrm>
            <a:prstGeom prst="rect">
              <a:avLst/>
            </a:prstGeom>
            <a:solidFill>
              <a:srgbClr val="D7024C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  <p:sp>
          <p:nvSpPr>
            <p:cNvPr id="258" name="Google Shape;157;p3"/>
            <p:cNvSpPr txBox="1"/>
            <p:nvPr/>
          </p:nvSpPr>
          <p:spPr>
            <a:xfrm>
              <a:off x="1225806" y="2982817"/>
              <a:ext cx="6239628" cy="13004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83800" tIns="83800" rIns="83800" bIns="83800" numCol="1" anchor="ctr">
              <a:spAutoFit/>
            </a:bodyPr>
            <a:lstStyle/>
            <a:p>
              <a:pPr>
                <a:lnSpc>
                  <a:spcPct val="90000"/>
                </a:lnSpc>
                <a:defRPr sz="24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pPr>
              <a:r>
                <a:t>Introduction to GitHub (conceptual)</a:t>
              </a:r>
            </a:p>
            <a:p>
              <a:pPr defTabSz="457200">
                <a:spcBef>
                  <a:spcPts val="1200"/>
                </a:spcBef>
                <a:defRPr sz="1200">
                  <a:latin typeface="Times Roman"/>
                  <a:ea typeface="Times Roman"/>
                  <a:cs typeface="Times Roman"/>
                  <a:sym typeface="Times Roman"/>
                </a:defRPr>
              </a:pPr>
            </a:p>
          </p:txBody>
        </p:sp>
        <p:sp>
          <p:nvSpPr>
            <p:cNvPr id="259" name="Google Shape;158;p3"/>
            <p:cNvSpPr/>
            <p:nvPr/>
          </p:nvSpPr>
          <p:spPr>
            <a:xfrm>
              <a:off x="442089" y="2862250"/>
              <a:ext cx="764335" cy="764335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93B6D2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  <p:sp>
          <p:nvSpPr>
            <p:cNvPr id="260" name="Google Shape;159;p3"/>
            <p:cNvSpPr/>
            <p:nvPr/>
          </p:nvSpPr>
          <p:spPr>
            <a:xfrm>
              <a:off x="386096" y="3855592"/>
              <a:ext cx="7079338" cy="611468"/>
            </a:xfrm>
            <a:prstGeom prst="rect">
              <a:avLst/>
            </a:prstGeom>
            <a:solidFill>
              <a:srgbClr val="D7024C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  <p:sp>
          <p:nvSpPr>
            <p:cNvPr id="261" name="Google Shape;160;p3"/>
            <p:cNvSpPr txBox="1"/>
            <p:nvPr/>
          </p:nvSpPr>
          <p:spPr>
            <a:xfrm>
              <a:off x="787646" y="3899725"/>
              <a:ext cx="6677788" cy="8432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83800" tIns="83800" rIns="83800" bIns="83800" numCol="1" anchor="ctr">
              <a:spAutoFit/>
            </a:bodyPr>
            <a:lstStyle>
              <a:lvl1pPr>
                <a:lnSpc>
                  <a:spcPct val="90000"/>
                </a:lnSpc>
                <a:defRPr sz="24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lvl1pPr>
            </a:lstStyle>
            <a:p>
              <a:pPr/>
              <a:r>
                <a:t>Responsible use of AI in understanding code</a:t>
              </a:r>
            </a:p>
          </p:txBody>
        </p:sp>
        <p:sp>
          <p:nvSpPr>
            <p:cNvPr id="262" name="Google Shape;161;p3"/>
            <p:cNvSpPr/>
            <p:nvPr/>
          </p:nvSpPr>
          <p:spPr>
            <a:xfrm>
              <a:off x="3929" y="3779157"/>
              <a:ext cx="764335" cy="764336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93B6D2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138;p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630936">
              <a:defRPr sz="3174"/>
            </a:pPr>
            <a:r>
              <a:t>What Is Software Construction?</a:t>
            </a:r>
          </a:p>
          <a:p>
            <a:pPr defTabSz="315468">
              <a:lnSpc>
                <a:spcPct val="100000"/>
              </a:lnSpc>
              <a:spcBef>
                <a:spcPts val="800"/>
              </a:spcBef>
              <a:defRPr sz="828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  <p:sp>
        <p:nvSpPr>
          <p:cNvPr id="266" name="Google Shape;139;p2"/>
          <p:cNvSpPr txBox="1"/>
          <p:nvPr>
            <p:ph type="body" idx="1"/>
          </p:nvPr>
        </p:nvSpPr>
        <p:spPr>
          <a:xfrm>
            <a:off x="838200" y="1998198"/>
            <a:ext cx="10515600" cy="4489451"/>
          </a:xfrm>
          <a:prstGeom prst="rect">
            <a:avLst/>
          </a:prstGeom>
        </p:spPr>
        <p:txBody>
          <a:bodyPr/>
          <a:lstStyle/>
          <a:p>
            <a:pPr marL="0" indent="0" defTabSz="658368">
              <a:spcBef>
                <a:spcPts val="0"/>
              </a:spcBef>
              <a:buSzTx/>
              <a:buNone/>
              <a:defRPr sz="2016"/>
            </a:pPr>
            <a:r>
              <a:t>Construction is the disciplined activity of building software systems that are readable, maintainable, testable, and adaptable to change.</a:t>
            </a:r>
          </a:p>
          <a:p>
            <a:pPr marL="0" indent="0" defTabSz="658368">
              <a:spcBef>
                <a:spcPts val="0"/>
              </a:spcBef>
              <a:buSzTx/>
              <a:buNone/>
              <a:defRPr sz="2016"/>
            </a:pPr>
          </a:p>
          <a:p>
            <a:pPr marL="0" indent="0" defTabSz="658368">
              <a:spcBef>
                <a:spcPts val="0"/>
              </a:spcBef>
              <a:buSzTx/>
              <a:buNone/>
              <a:defRPr sz="2016"/>
            </a:pPr>
            <a:r>
              <a:t>It includes:</a:t>
            </a:r>
            <a:endParaRPr sz="1728"/>
          </a:p>
          <a:p>
            <a:pPr lvl="1" marL="556673" indent="-141078" defTabSz="658368">
              <a:spcBef>
                <a:spcPts val="700"/>
              </a:spcBef>
              <a:buSzPts val="1700"/>
              <a:defRPr sz="2016"/>
            </a:pPr>
            <a:r>
              <a:rPr sz="1728"/>
              <a:t> </a:t>
            </a:r>
            <a:r>
              <a:rPr b="1"/>
              <a:t>Code structure and organization</a:t>
            </a:r>
            <a:endParaRPr b="1"/>
          </a:p>
          <a:p>
            <a:pPr lvl="1" marL="580186" indent="-164592" defTabSz="658368">
              <a:spcBef>
                <a:spcPts val="700"/>
              </a:spcBef>
              <a:buSzPts val="2000"/>
              <a:defRPr sz="2016"/>
            </a:pPr>
            <a:r>
              <a:rPr b="1"/>
              <a:t> Design decisions</a:t>
            </a:r>
            <a:endParaRPr b="1"/>
          </a:p>
          <a:p>
            <a:pPr lvl="1" marL="580186" indent="-164592" defTabSz="658368">
              <a:spcBef>
                <a:spcPts val="700"/>
              </a:spcBef>
              <a:buSzPts val="2000"/>
              <a:defRPr sz="2016"/>
            </a:pPr>
            <a:r>
              <a:rPr b="1"/>
              <a:t> Error handling</a:t>
            </a:r>
            <a:endParaRPr b="1"/>
          </a:p>
          <a:p>
            <a:pPr lvl="1" marL="580186" indent="-164592" defTabSz="658368">
              <a:spcBef>
                <a:spcPts val="700"/>
              </a:spcBef>
              <a:buSzPts val="2000"/>
              <a:defRPr sz="2016"/>
            </a:pPr>
            <a:r>
              <a:rPr b="1"/>
              <a:t> Testing strategies</a:t>
            </a:r>
            <a:endParaRPr b="1"/>
          </a:p>
          <a:p>
            <a:pPr lvl="1" marL="580186" indent="-164592" defTabSz="658368">
              <a:spcBef>
                <a:spcPts val="700"/>
              </a:spcBef>
              <a:buSzPts val="2000"/>
              <a:defRPr sz="2016"/>
            </a:pPr>
            <a:r>
              <a:rPr b="1"/>
              <a:t> Documentation</a:t>
            </a:r>
            <a:endParaRPr b="1"/>
          </a:p>
          <a:p>
            <a:pPr lvl="1" marL="580186" indent="-164592" defTabSz="658368">
              <a:spcBef>
                <a:spcPts val="700"/>
              </a:spcBef>
              <a:buSzPts val="2000"/>
              <a:defRPr sz="2016"/>
            </a:pPr>
            <a:r>
              <a:rPr b="1"/>
              <a:t> Collaboration practices</a:t>
            </a:r>
          </a:p>
          <a:p>
            <a:pPr marL="164592" indent="-164592" defTabSz="658368">
              <a:spcBef>
                <a:spcPts val="700"/>
              </a:spcBef>
              <a:buSzPts val="2000"/>
              <a:defRPr sz="2016"/>
            </a:pPr>
          </a:p>
          <a:p>
            <a:pPr marL="164592" indent="-164592" defTabSz="658368">
              <a:spcBef>
                <a:spcPts val="700"/>
              </a:spcBef>
              <a:buSzPts val="2000"/>
              <a:defRPr sz="2016"/>
            </a:pPr>
          </a:p>
        </p:txBody>
      </p:sp>
      <p:sp>
        <p:nvSpPr>
          <p:cNvPr id="267" name="Software Construction is concerned not only with what the software does, but how well it is built."/>
          <p:cNvSpPr txBox="1"/>
          <p:nvPr/>
        </p:nvSpPr>
        <p:spPr>
          <a:xfrm>
            <a:off x="1414166" y="5703182"/>
            <a:ext cx="8926985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457200">
              <a:defRPr sz="1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Software Construction is concerned not only with </a:t>
            </a:r>
            <a:r>
              <a:rPr i="1"/>
              <a:t>what</a:t>
            </a:r>
            <a:r>
              <a:t> the software does, but </a:t>
            </a:r>
            <a:r>
              <a:rPr i="1"/>
              <a:t>how well it is built</a:t>
            </a:r>
            <a:r>
              <a:t>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138;p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813816">
              <a:defRPr sz="4093"/>
            </a:lvl1pPr>
          </a:lstStyle>
          <a:p>
            <a:pPr/>
            <a:r>
              <a:t>Why Software Construction Matters</a:t>
            </a:r>
          </a:p>
        </p:txBody>
      </p:sp>
      <p:sp>
        <p:nvSpPr>
          <p:cNvPr id="270" name="Google Shape;139;p2"/>
          <p:cNvSpPr txBox="1"/>
          <p:nvPr>
            <p:ph type="body" sz="half" idx="1"/>
          </p:nvPr>
        </p:nvSpPr>
        <p:spPr>
          <a:xfrm>
            <a:off x="838199" y="2851070"/>
            <a:ext cx="10515601" cy="2162336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0"/>
              </a:spcBef>
              <a:buSzTx/>
              <a:buNone/>
            </a:pPr>
            <a:r>
              <a:t>In real-world environments:</a:t>
            </a:r>
            <a:endParaRPr sz="2400"/>
          </a:p>
          <a:p>
            <a:pPr lvl="1" marL="773157" indent="-195942">
              <a:buSzPts val="2400"/>
            </a:pPr>
            <a:r>
              <a:rPr sz="2400"/>
              <a:t> </a:t>
            </a:r>
            <a:r>
              <a:rPr b="1"/>
              <a:t>Code </a:t>
            </a:r>
            <a:r>
              <a:t>Software is built by </a:t>
            </a:r>
            <a:r>
              <a:rPr b="1"/>
              <a:t>teams</a:t>
            </a:r>
            <a:r>
              <a:t>, not individuals</a:t>
            </a:r>
          </a:p>
          <a:p>
            <a:pPr lvl="1" marL="805815" indent="-228600"/>
            <a:r>
              <a:t>Software is used for </a:t>
            </a:r>
            <a:r>
              <a:rPr b="1"/>
              <a:t>years</a:t>
            </a:r>
            <a:r>
              <a:t>, not weeks</a:t>
            </a:r>
          </a:p>
          <a:p>
            <a:pPr lvl="1" marL="805815" indent="-228600"/>
            <a:r>
              <a:t>Software must adapt to </a:t>
            </a:r>
            <a:r>
              <a:rPr b="1"/>
              <a:t>changing requirements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138;p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813816">
              <a:defRPr sz="4093"/>
            </a:lvl1pPr>
          </a:lstStyle>
          <a:p>
            <a:pPr/>
            <a:r>
              <a:t>Why Software Construction Matters</a:t>
            </a:r>
          </a:p>
        </p:txBody>
      </p:sp>
      <p:sp>
        <p:nvSpPr>
          <p:cNvPr id="273" name="Google Shape;139;p2"/>
          <p:cNvSpPr txBox="1"/>
          <p:nvPr>
            <p:ph type="body" sz="half" idx="1"/>
          </p:nvPr>
        </p:nvSpPr>
        <p:spPr>
          <a:xfrm>
            <a:off x="838200" y="2653362"/>
            <a:ext cx="10515600" cy="2162336"/>
          </a:xfrm>
          <a:prstGeom prst="rect">
            <a:avLst/>
          </a:prstGeom>
        </p:spPr>
        <p:txBody>
          <a:bodyPr/>
          <a:lstStyle/>
          <a:p>
            <a:pPr marL="0" indent="0" defTabSz="786384">
              <a:spcBef>
                <a:spcPts val="0"/>
              </a:spcBef>
              <a:buSzTx/>
              <a:buNone/>
              <a:defRPr sz="2408"/>
            </a:pPr>
            <a:r>
              <a:t>Poor software construction leads to:</a:t>
            </a:r>
            <a:endParaRPr sz="2064"/>
          </a:p>
          <a:p>
            <a:pPr lvl="1" marL="664915" indent="-168510" defTabSz="786384">
              <a:spcBef>
                <a:spcPts val="800"/>
              </a:spcBef>
              <a:buSzPts val="2000"/>
              <a:defRPr sz="2408"/>
            </a:pPr>
            <a:r>
              <a:rPr sz="2064"/>
              <a:t> </a:t>
            </a:r>
            <a:r>
              <a:t>High maintenance costs</a:t>
            </a:r>
          </a:p>
          <a:p>
            <a:pPr lvl="1" marL="693000" indent="-196596" defTabSz="786384">
              <a:spcBef>
                <a:spcPts val="800"/>
              </a:spcBef>
              <a:buSzPts val="2400"/>
              <a:defRPr sz="2408"/>
            </a:pPr>
            <a:r>
              <a:t>Frequent system failures</a:t>
            </a:r>
          </a:p>
          <a:p>
            <a:pPr lvl="1" marL="693000" indent="-196596" defTabSz="786384">
              <a:spcBef>
                <a:spcPts val="800"/>
              </a:spcBef>
              <a:buSzPts val="2400"/>
              <a:defRPr sz="2408"/>
            </a:pPr>
            <a:r>
              <a:t>Difficulty onboarding new developers</a:t>
            </a:r>
          </a:p>
          <a:p>
            <a:pPr lvl="1" marL="693000" indent="-196596" defTabSz="786384">
              <a:spcBef>
                <a:spcPts val="800"/>
              </a:spcBef>
              <a:buSzPts val="2400"/>
              <a:defRPr sz="2408"/>
            </a:pPr>
            <a:r>
              <a:t>Eventual system replacement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166;p4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 lIns="50800" tIns="50800" rIns="50800" bIns="50800"/>
          <a:lstStyle>
            <a:lvl1pPr defTabSz="777240">
              <a:defRPr sz="3740"/>
            </a:lvl1pPr>
          </a:lstStyle>
          <a:p>
            <a:pPr/>
            <a:r>
              <a:t>Programming vs Software Construction</a:t>
            </a:r>
          </a:p>
        </p:txBody>
      </p:sp>
      <p:sp>
        <p:nvSpPr>
          <p:cNvPr id="276" name="Google Shape;167;p4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0"/>
              </a:spcBef>
              <a:buSzTx/>
              <a:buNone/>
            </a:pPr>
            <a:r>
              <a:t>Programming:</a:t>
            </a:r>
          </a:p>
          <a:p>
            <a:pPr marL="0" indent="0">
              <a:spcBef>
                <a:spcPts val="0"/>
              </a:spcBef>
              <a:buSzTx/>
              <a:buNone/>
            </a:pPr>
            <a:endParaRPr sz="2400"/>
          </a:p>
          <a:p>
            <a:pPr lvl="1" marL="805815" indent="-228600">
              <a:buSzPts val="2200"/>
              <a:defRPr sz="2200"/>
            </a:pPr>
            <a:r>
              <a:t> Focuses on writing instructions for a computer</a:t>
            </a:r>
          </a:p>
          <a:p>
            <a:pPr lvl="1" marL="805815" indent="-228600">
              <a:buSzPts val="2200"/>
              <a:defRPr sz="2200"/>
            </a:pPr>
            <a:r>
              <a:t>Emphasis on correctness and functionality</a:t>
            </a:r>
          </a:p>
          <a:p>
            <a:pPr lvl="1" marL="805815" indent="-228600">
              <a:buSzPts val="2200"/>
              <a:defRPr sz="2200"/>
            </a:pPr>
            <a:r>
              <a:t>Often short-term and individual-focused</a:t>
            </a:r>
          </a:p>
        </p:txBody>
      </p:sp>
      <p:sp>
        <p:nvSpPr>
          <p:cNvPr id="277" name="Google Shape;168;p4"/>
          <p:cNvSpPr txBox="1"/>
          <p:nvPr>
            <p:ph type="body" idx="21"/>
          </p:nvPr>
        </p:nvSpPr>
        <p:spPr>
          <a:xfrm>
            <a:off x="6219273" y="1862426"/>
            <a:ext cx="5181601" cy="435133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0" indent="0">
              <a:spcBef>
                <a:spcPts val="0"/>
              </a:spcBef>
              <a:buSzTx/>
              <a:buNone/>
            </a:pPr>
            <a:r>
              <a:t>Software Construction:</a:t>
            </a:r>
          </a:p>
          <a:p>
            <a:pPr marL="0" indent="0">
              <a:spcBef>
                <a:spcPts val="0"/>
              </a:spcBef>
              <a:buSzTx/>
              <a:buNone/>
            </a:pPr>
            <a:endParaRPr sz="2400"/>
          </a:p>
          <a:p>
            <a:pPr lvl="1" marL="805815" indent="-228600">
              <a:buSzPts val="2200"/>
              <a:defRPr sz="2200"/>
            </a:pPr>
            <a:r>
              <a:t> Focuses on building systems for people and teams</a:t>
            </a:r>
          </a:p>
          <a:p>
            <a:pPr lvl="1" marL="805815" indent="-228600">
              <a:buSzPts val="2200"/>
              <a:defRPr sz="2200"/>
            </a:pPr>
            <a:r>
              <a:t>Emphasis on quality, structure, and longevity</a:t>
            </a:r>
          </a:p>
          <a:p>
            <a:pPr lvl="1" marL="805815" indent="-228600">
              <a:buSzPts val="2200"/>
              <a:defRPr sz="2200"/>
            </a:pPr>
            <a:r>
              <a:t>Long-term responsibility and collaboration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138;p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813816">
              <a:defRPr sz="4093"/>
            </a:lvl1pPr>
          </a:lstStyle>
          <a:p>
            <a:pPr/>
            <a:r>
              <a:t>Key Differences</a:t>
            </a:r>
          </a:p>
        </p:txBody>
      </p:sp>
      <p:graphicFrame>
        <p:nvGraphicFramePr>
          <p:cNvPr id="280" name="Table 1"/>
          <p:cNvGraphicFramePr/>
          <p:nvPr/>
        </p:nvGraphicFramePr>
        <p:xfrm>
          <a:off x="1091186" y="1968742"/>
          <a:ext cx="10672234" cy="4151406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{EEE7283C-3CF3-47DC-8721-378D4A62B228}</a:tableStyleId>
              </a:tblPr>
              <a:tblGrid>
                <a:gridCol w="5329766"/>
                <a:gridCol w="5329766"/>
              </a:tblGrid>
              <a:tr h="827740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  <a:sym typeface="Arial"/>
                        </a:rPr>
                        <a:t>
Programming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  <a:sym typeface="Arial"/>
                        </a:rPr>
                        <a:t>
Software Construction</a:t>
                      </a:r>
                    </a:p>
                  </a:txBody>
                  <a:tcPr marL="0" marR="0" marT="0" marB="0" anchor="ctr" anchorCtr="0" horzOverflow="overflow"/>
                </a:tc>
              </a:tr>
              <a:tr h="8277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ym typeface="Arial"/>
                        </a:rPr>
                        <a:t>
Writting Code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ym typeface="Arial"/>
                        </a:rPr>
                        <a:t>
Building Systems</a:t>
                      </a:r>
                    </a:p>
                  </a:txBody>
                  <a:tcPr marL="0" marR="0" marT="0" marB="0" anchor="ctr" anchorCtr="0" horzOverflow="overflow"/>
                </a:tc>
              </a:tr>
              <a:tr h="8277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ym typeface="Arial"/>
                        </a:rPr>
                        <a:t>Individual Activity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ym typeface="Arial"/>
                        </a:rPr>
                        <a:t>Team-based Activity</a:t>
                      </a:r>
                    </a:p>
                  </a:txBody>
                  <a:tcPr marL="0" marR="0" marT="0" marB="0" anchor="ctr" anchorCtr="0" horzOverflow="overflow"/>
                </a:tc>
              </a:tr>
              <a:tr h="8277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ym typeface="Arial"/>
                        </a:rPr>
                        <a:t>Short-term focus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ym typeface="Arial"/>
                        </a:rPr>
                        <a:t>Long-term focus</a:t>
                      </a:r>
                    </a:p>
                  </a:txBody>
                  <a:tcPr marL="0" marR="0" marT="0" marB="0" anchor="ctr" anchorCtr="0" horzOverflow="overflow"/>
                </a:tc>
              </a:tr>
              <a:tr h="8277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ym typeface="Arial"/>
                        </a:rPr>
                        <a:t>“It works”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ym typeface="Arial"/>
                        </a:rPr>
                        <a:t>“It works and can evolve safely”</a:t>
                      </a:r>
                    </a:p>
                  </a:txBody>
                  <a:tcPr marL="0" marR="0" marT="0" marB="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138;p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813816">
              <a:defRPr sz="4093"/>
            </a:lvl1pPr>
          </a:lstStyle>
          <a:p>
            <a:pPr/>
            <a:r>
              <a:t>Real World Example</a:t>
            </a:r>
          </a:p>
        </p:txBody>
      </p:sp>
      <p:sp>
        <p:nvSpPr>
          <p:cNvPr id="283" name="Google Shape;139;p2"/>
          <p:cNvSpPr txBox="1"/>
          <p:nvPr>
            <p:ph type="body" sz="half" idx="1"/>
          </p:nvPr>
        </p:nvSpPr>
        <p:spPr>
          <a:xfrm>
            <a:off x="838200" y="2669407"/>
            <a:ext cx="10515600" cy="2162335"/>
          </a:xfrm>
          <a:prstGeom prst="rect">
            <a:avLst/>
          </a:prstGeom>
        </p:spPr>
        <p:txBody>
          <a:bodyPr/>
          <a:lstStyle/>
          <a:p>
            <a:pPr marL="0" indent="0" defTabSz="813816">
              <a:spcBef>
                <a:spcPts val="0"/>
              </a:spcBef>
              <a:buSzTx/>
              <a:buNone/>
              <a:defRPr sz="2492"/>
            </a:pPr>
            <a:r>
              <a:t>A script that calculates student grades → </a:t>
            </a:r>
            <a:r>
              <a:rPr b="1"/>
              <a:t>Programming</a:t>
            </a:r>
            <a:endParaRPr b="1"/>
          </a:p>
          <a:p>
            <a:pPr marL="0" indent="0" defTabSz="813816">
              <a:spcBef>
                <a:spcPts val="0"/>
              </a:spcBef>
              <a:buSzTx/>
              <a:buNone/>
              <a:defRPr sz="2492"/>
            </a:pPr>
            <a:r>
              <a:t>A university grading system that:</a:t>
            </a:r>
            <a:endParaRPr sz="2136"/>
          </a:p>
          <a:p>
            <a:pPr lvl="1" marL="688110" indent="-174389" defTabSz="813816">
              <a:spcBef>
                <a:spcPts val="800"/>
              </a:spcBef>
              <a:buSzPts val="2100"/>
              <a:defRPr sz="2492"/>
            </a:pPr>
            <a:r>
              <a:rPr sz="2136"/>
              <a:t> </a:t>
            </a:r>
            <a:r>
              <a:t>Handles missing data</a:t>
            </a:r>
          </a:p>
          <a:p>
            <a:pPr lvl="1" marL="717175" indent="-203454" defTabSz="813816">
              <a:spcBef>
                <a:spcPts val="800"/>
              </a:spcBef>
              <a:buSzPts val="2400"/>
              <a:defRPr sz="2492"/>
            </a:pPr>
            <a:r>
              <a:t> Supports policy changes</a:t>
            </a:r>
          </a:p>
          <a:p>
            <a:pPr lvl="1" marL="717175" indent="-203454" defTabSz="813816">
              <a:spcBef>
                <a:spcPts val="800"/>
              </a:spcBef>
              <a:buSzPts val="2400"/>
              <a:defRPr sz="2492"/>
            </a:pPr>
            <a:r>
              <a:t> Is maintained over several years</a:t>
            </a:r>
          </a:p>
        </p:txBody>
      </p:sp>
      <p:sp>
        <p:nvSpPr>
          <p:cNvPr id="284" name="→ Software Construction"/>
          <p:cNvSpPr txBox="1"/>
          <p:nvPr/>
        </p:nvSpPr>
        <p:spPr>
          <a:xfrm>
            <a:off x="1783091" y="4887840"/>
            <a:ext cx="1677790" cy="1891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457200">
              <a:defRPr b="1"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→ </a:t>
            </a:r>
            <a:r>
              <a:t>Software Construction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138;p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813816">
              <a:defRPr sz="4093"/>
            </a:lvl1pPr>
          </a:lstStyle>
          <a:p>
            <a:pPr/>
            <a:r>
              <a:t>Software Evolution</a:t>
            </a:r>
          </a:p>
        </p:txBody>
      </p:sp>
      <p:sp>
        <p:nvSpPr>
          <p:cNvPr id="287" name="Google Shape;139;p2"/>
          <p:cNvSpPr txBox="1"/>
          <p:nvPr>
            <p:ph type="body" sz="half" idx="1"/>
          </p:nvPr>
        </p:nvSpPr>
        <p:spPr>
          <a:xfrm>
            <a:off x="838200" y="2669407"/>
            <a:ext cx="10515600" cy="2162335"/>
          </a:xfrm>
          <a:prstGeom prst="rect">
            <a:avLst/>
          </a:prstGeom>
        </p:spPr>
        <p:txBody>
          <a:bodyPr/>
          <a:lstStyle/>
          <a:p>
            <a:pPr marL="0" indent="0" defTabSz="658368">
              <a:spcBef>
                <a:spcPts val="0"/>
              </a:spcBef>
              <a:buSzTx/>
              <a:buNone/>
              <a:defRPr sz="2016"/>
            </a:pPr>
            <a:r>
              <a:t>Software systems change because:</a:t>
            </a:r>
            <a:endParaRPr sz="1728"/>
          </a:p>
          <a:p>
            <a:pPr lvl="1" marL="556673" indent="-141078" defTabSz="658368">
              <a:spcBef>
                <a:spcPts val="700"/>
              </a:spcBef>
              <a:buSzPts val="1700"/>
              <a:defRPr sz="2016"/>
            </a:pPr>
            <a:r>
              <a:rPr sz="1728"/>
              <a:t> </a:t>
            </a:r>
            <a:r>
              <a:t>User needs evolve</a:t>
            </a:r>
          </a:p>
          <a:p>
            <a:pPr lvl="1" marL="580186" indent="-164592" defTabSz="658368">
              <a:spcBef>
                <a:spcPts val="700"/>
              </a:spcBef>
              <a:buSzPts val="2000"/>
              <a:defRPr sz="2016"/>
            </a:pPr>
            <a:r>
              <a:t> Business rules change</a:t>
            </a:r>
          </a:p>
          <a:p>
            <a:pPr lvl="1" marL="580186" indent="-164592" defTabSz="658368">
              <a:spcBef>
                <a:spcPts val="700"/>
              </a:spcBef>
              <a:buSzPts val="2000"/>
              <a:defRPr sz="2016"/>
            </a:pPr>
            <a:r>
              <a:t> Laws and regulations are updated</a:t>
            </a:r>
          </a:p>
          <a:p>
            <a:pPr lvl="1" marL="580186" indent="-164592" defTabSz="658368">
              <a:spcBef>
                <a:spcPts val="700"/>
              </a:spcBef>
              <a:buSzPts val="2000"/>
              <a:defRPr sz="2016"/>
            </a:pPr>
            <a:r>
              <a:t> Bugs are discovered</a:t>
            </a:r>
          </a:p>
          <a:p>
            <a:pPr lvl="1" marL="580186" indent="-164592" defTabSz="658368">
              <a:spcBef>
                <a:spcPts val="700"/>
              </a:spcBef>
              <a:buSzPts val="2000"/>
              <a:defRPr sz="2016"/>
            </a:pPr>
            <a:r>
              <a:t> Performance requirements increase</a:t>
            </a:r>
          </a:p>
        </p:txBody>
      </p:sp>
      <p:sp>
        <p:nvSpPr>
          <p:cNvPr id="288" name="→ Software that cannot evolve becomes obsolete, even if it once worked well."/>
          <p:cNvSpPr txBox="1"/>
          <p:nvPr/>
        </p:nvSpPr>
        <p:spPr>
          <a:xfrm>
            <a:off x="1783091" y="4887840"/>
            <a:ext cx="4995913" cy="1891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457200">
              <a:defRPr b="1"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→ </a:t>
            </a:r>
            <a:r>
              <a:t>Software that cannot evolve becomes obsolete, even if it once worked well.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138;p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813816">
              <a:defRPr sz="4093"/>
            </a:lvl1pPr>
          </a:lstStyle>
          <a:p>
            <a:pPr/>
            <a:r>
              <a:t>Software Maintainability</a:t>
            </a:r>
          </a:p>
        </p:txBody>
      </p:sp>
      <p:sp>
        <p:nvSpPr>
          <p:cNvPr id="291" name="Google Shape;139;p2"/>
          <p:cNvSpPr txBox="1"/>
          <p:nvPr>
            <p:ph type="body" idx="1"/>
          </p:nvPr>
        </p:nvSpPr>
        <p:spPr>
          <a:xfrm>
            <a:off x="376881" y="1817287"/>
            <a:ext cx="11438238" cy="4262229"/>
          </a:xfrm>
          <a:prstGeom prst="rect">
            <a:avLst/>
          </a:prstGeom>
        </p:spPr>
        <p:txBody>
          <a:bodyPr/>
          <a:lstStyle/>
          <a:p>
            <a:pPr marL="0" indent="0" defTabSz="320039">
              <a:lnSpc>
                <a:spcPct val="100000"/>
              </a:lnSpc>
              <a:spcBef>
                <a:spcPts val="800"/>
              </a:spcBef>
              <a:buClrTx/>
              <a:buSzTx/>
              <a:buFontTx/>
              <a:buNone/>
              <a:defRPr sz="1540"/>
            </a:pPr>
            <a:r>
              <a:rPr b="1"/>
              <a:t>Maintainability</a:t>
            </a:r>
            <a:r>
              <a:t> is the ease with which software can be:</a:t>
            </a:r>
          </a:p>
          <a:p>
            <a:pPr marL="257809" indent="-160019" defTabSz="320039">
              <a:lnSpc>
                <a:spcPct val="100000"/>
              </a:lnSpc>
              <a:spcBef>
                <a:spcPts val="800"/>
              </a:spcBef>
              <a:buClrTx/>
              <a:buSzPct val="80000"/>
              <a:buFont typeface="Times Roman"/>
              <a:buBlip>
                <a:blip r:embed="rId2"/>
              </a:buBlip>
              <a:defRPr sz="1540"/>
            </a:pPr>
            <a:r>
              <a:t> Understood</a:t>
            </a:r>
          </a:p>
          <a:p>
            <a:pPr marL="257809" indent="-160019" defTabSz="320039">
              <a:lnSpc>
                <a:spcPct val="100000"/>
              </a:lnSpc>
              <a:spcBef>
                <a:spcPts val="800"/>
              </a:spcBef>
              <a:buClrTx/>
              <a:buSzPct val="80000"/>
              <a:buFont typeface="Times Roman"/>
              <a:buBlip>
                <a:blip r:embed="rId2"/>
              </a:buBlip>
              <a:defRPr sz="1540"/>
            </a:pPr>
            <a:r>
              <a:t> Modified</a:t>
            </a:r>
          </a:p>
          <a:p>
            <a:pPr marL="257809" indent="-160019" defTabSz="320039">
              <a:lnSpc>
                <a:spcPct val="100000"/>
              </a:lnSpc>
              <a:spcBef>
                <a:spcPts val="800"/>
              </a:spcBef>
              <a:buClrTx/>
              <a:buSzPct val="80000"/>
              <a:buFont typeface="Times Roman"/>
              <a:buBlip>
                <a:blip r:embed="rId2"/>
              </a:buBlip>
              <a:defRPr sz="1540"/>
            </a:pPr>
            <a:r>
              <a:t> Fixed</a:t>
            </a:r>
          </a:p>
          <a:p>
            <a:pPr marL="257809" indent="-160019" defTabSz="320039">
              <a:lnSpc>
                <a:spcPct val="100000"/>
              </a:lnSpc>
              <a:spcBef>
                <a:spcPts val="800"/>
              </a:spcBef>
              <a:buClrTx/>
              <a:buSzPct val="80000"/>
              <a:buFont typeface="Times Roman"/>
              <a:buBlip>
                <a:blip r:embed="rId2"/>
              </a:buBlip>
              <a:defRPr sz="1540"/>
            </a:pPr>
            <a:r>
              <a:t> Extended</a:t>
            </a:r>
          </a:p>
          <a:p>
            <a:pPr marL="0" indent="0" defTabSz="320039">
              <a:lnSpc>
                <a:spcPct val="100000"/>
              </a:lnSpc>
              <a:spcBef>
                <a:spcPts val="800"/>
              </a:spcBef>
              <a:buClrTx/>
              <a:buSzTx/>
              <a:buFontTx/>
              <a:buNone/>
              <a:defRPr sz="1540"/>
            </a:pPr>
            <a:r>
              <a:t>High maintainability results in:</a:t>
            </a:r>
          </a:p>
          <a:p>
            <a:pPr marL="257809" indent="-160019" defTabSz="320039">
              <a:lnSpc>
                <a:spcPct val="100000"/>
              </a:lnSpc>
              <a:spcBef>
                <a:spcPts val="800"/>
              </a:spcBef>
              <a:buClr>
                <a:srgbClr val="000000"/>
              </a:buClr>
              <a:buSzPct val="80000"/>
              <a:buFont typeface="Times Roman"/>
              <a:buBlip>
                <a:blip r:embed="rId2"/>
              </a:buBlip>
              <a:defRPr sz="1540"/>
            </a:pPr>
            <a:r>
              <a:t> Faster development</a:t>
            </a:r>
          </a:p>
          <a:p>
            <a:pPr marL="257809" indent="-160019" defTabSz="320039">
              <a:lnSpc>
                <a:spcPct val="100000"/>
              </a:lnSpc>
              <a:spcBef>
                <a:spcPts val="800"/>
              </a:spcBef>
              <a:buClr>
                <a:srgbClr val="000000"/>
              </a:buClr>
              <a:buSzPct val="80000"/>
              <a:buFont typeface="Times Roman"/>
              <a:buBlip>
                <a:blip r:embed="rId2"/>
              </a:buBlip>
              <a:defRPr sz="1540"/>
            </a:pPr>
            <a:r>
              <a:t> Lower costs</a:t>
            </a:r>
          </a:p>
          <a:p>
            <a:pPr marL="257809" indent="-160019" defTabSz="320039">
              <a:lnSpc>
                <a:spcPct val="100000"/>
              </a:lnSpc>
              <a:spcBef>
                <a:spcPts val="800"/>
              </a:spcBef>
              <a:buClr>
                <a:srgbClr val="000000"/>
              </a:buClr>
              <a:buSzPct val="80000"/>
              <a:buFont typeface="Times Roman"/>
              <a:buBlip>
                <a:blip r:embed="rId2"/>
              </a:buBlip>
              <a:defRPr sz="1540"/>
            </a:pPr>
            <a:r>
              <a:t> Reduced risk</a:t>
            </a:r>
          </a:p>
          <a:p>
            <a:pPr marL="0" indent="0" defTabSz="320039">
              <a:lnSpc>
                <a:spcPct val="100000"/>
              </a:lnSpc>
              <a:spcBef>
                <a:spcPts val="800"/>
              </a:spcBef>
              <a:buClrTx/>
              <a:buSzTx/>
              <a:buFontTx/>
              <a:buNone/>
              <a:defRPr sz="1540"/>
            </a:pPr>
            <a:r>
              <a:t>Low maintainability results in:</a:t>
            </a:r>
          </a:p>
          <a:p>
            <a:pPr marL="257809" indent="-160019" defTabSz="320039">
              <a:lnSpc>
                <a:spcPct val="100000"/>
              </a:lnSpc>
              <a:spcBef>
                <a:spcPts val="800"/>
              </a:spcBef>
              <a:buClr>
                <a:srgbClr val="000000"/>
              </a:buClr>
              <a:buSzPct val="80000"/>
              <a:buFont typeface="Times Roman"/>
              <a:buBlip>
                <a:blip r:embed="rId2"/>
              </a:buBlip>
              <a:defRPr sz="1540"/>
            </a:pPr>
            <a:r>
              <a:t> Fear of change</a:t>
            </a:r>
          </a:p>
          <a:p>
            <a:pPr marL="257809" indent="-160019" defTabSz="320039">
              <a:lnSpc>
                <a:spcPct val="100000"/>
              </a:lnSpc>
              <a:spcBef>
                <a:spcPts val="800"/>
              </a:spcBef>
              <a:buClr>
                <a:srgbClr val="000000"/>
              </a:buClr>
              <a:buSzPct val="80000"/>
              <a:buFont typeface="Times Roman"/>
              <a:buBlip>
                <a:blip r:embed="rId2"/>
              </a:buBlip>
              <a:defRPr sz="1540"/>
            </a:pPr>
            <a:r>
              <a:t> Increased bugs</a:t>
            </a:r>
          </a:p>
          <a:p>
            <a:pPr marL="257809" indent="-160019" defTabSz="320039">
              <a:lnSpc>
                <a:spcPct val="100000"/>
              </a:lnSpc>
              <a:spcBef>
                <a:spcPts val="800"/>
              </a:spcBef>
              <a:buClr>
                <a:srgbClr val="000000"/>
              </a:buClr>
              <a:buSzPct val="80000"/>
              <a:buFont typeface="Times Roman"/>
              <a:buBlip>
                <a:blip r:embed="rId2"/>
              </a:buBlip>
              <a:defRPr sz="1540"/>
            </a:pPr>
            <a:r>
              <a:t> Accumulated technical debt</a:t>
            </a:r>
          </a:p>
        </p:txBody>
      </p:sp>
      <p:pic>
        <p:nvPicPr>
          <p:cNvPr id="292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768697" y="2416223"/>
            <a:ext cx="4191747" cy="303203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138;p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813816">
              <a:defRPr sz="4093"/>
            </a:lvl1pPr>
          </a:lstStyle>
          <a:p>
            <a:pPr/>
            <a:r>
              <a:t>Industry Fact</a:t>
            </a:r>
          </a:p>
        </p:txBody>
      </p:sp>
      <p:sp>
        <p:nvSpPr>
          <p:cNvPr id="295" name="Google Shape;139;p2"/>
          <p:cNvSpPr txBox="1"/>
          <p:nvPr>
            <p:ph type="body" sz="half" idx="1"/>
          </p:nvPr>
        </p:nvSpPr>
        <p:spPr>
          <a:xfrm>
            <a:off x="838200" y="2669407"/>
            <a:ext cx="10515600" cy="2162335"/>
          </a:xfrm>
          <a:prstGeom prst="rect">
            <a:avLst/>
          </a:prstGeom>
        </p:spPr>
        <p:txBody>
          <a:bodyPr/>
          <a:lstStyle/>
          <a:p>
            <a:pPr marL="0" indent="0" defTabSz="877823">
              <a:spcBef>
                <a:spcPts val="0"/>
              </a:spcBef>
              <a:buSzTx/>
              <a:buNone/>
              <a:defRPr sz="2688"/>
            </a:pPr>
            <a:r>
              <a:t>Studies show that:</a:t>
            </a:r>
            <a:endParaRPr sz="2304"/>
          </a:p>
          <a:p>
            <a:pPr lvl="1" marL="742231" indent="-188105" defTabSz="877823">
              <a:spcBef>
                <a:spcPts val="900"/>
              </a:spcBef>
              <a:buSzPts val="2300"/>
              <a:defRPr sz="2688"/>
            </a:pPr>
            <a:r>
              <a:rPr sz="2304"/>
              <a:t> </a:t>
            </a:r>
            <a:r>
              <a:rPr b="1"/>
              <a:t>Over 70% of the software lifecycle cost</a:t>
            </a:r>
            <a:r>
              <a:t> is spent on maintenance and evolution</a:t>
            </a:r>
          </a:p>
          <a:p>
            <a:pPr lvl="1" marL="773582" indent="-219455" defTabSz="877823">
              <a:spcBef>
                <a:spcPts val="900"/>
              </a:spcBef>
              <a:buSzPts val="2600"/>
              <a:defRPr sz="2688"/>
            </a:pPr>
            <a:r>
              <a:t> Many systems are rewritten not because they fail, but because they become </a:t>
            </a:r>
            <a:r>
              <a:rPr b="1"/>
              <a:t>too difficult to maintain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138;p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813816">
              <a:defRPr sz="4093"/>
            </a:lvl1pPr>
          </a:lstStyle>
          <a:p>
            <a:pPr/>
            <a:r>
              <a:t>Introduction to GitHub</a:t>
            </a:r>
          </a:p>
        </p:txBody>
      </p:sp>
      <p:sp>
        <p:nvSpPr>
          <p:cNvPr id="298" name="Google Shape;139;p2"/>
          <p:cNvSpPr txBox="1"/>
          <p:nvPr>
            <p:ph type="body" idx="1"/>
          </p:nvPr>
        </p:nvSpPr>
        <p:spPr>
          <a:xfrm>
            <a:off x="376881" y="1977336"/>
            <a:ext cx="11438238" cy="4262229"/>
          </a:xfrm>
          <a:prstGeom prst="rect">
            <a:avLst/>
          </a:prstGeom>
        </p:spPr>
        <p:txBody>
          <a:bodyPr/>
          <a:lstStyle/>
          <a:p>
            <a:pPr marL="0" indent="0" defTabSz="342900">
              <a:lnSpc>
                <a:spcPct val="100000"/>
              </a:lnSpc>
              <a:spcBef>
                <a:spcPts val="900"/>
              </a:spcBef>
              <a:buClrTx/>
              <a:buSzTx/>
              <a:buFontTx/>
              <a:buNone/>
              <a:defRPr sz="1650"/>
            </a:pPr>
            <a:r>
              <a:rPr b="1"/>
              <a:t>GitHub</a:t>
            </a:r>
            <a:r>
              <a:t> is a collaborative platform built on Git that supports:</a:t>
            </a:r>
          </a:p>
          <a:p>
            <a:pPr marL="276225" indent="-171450" defTabSz="342900">
              <a:lnSpc>
                <a:spcPct val="100000"/>
              </a:lnSpc>
              <a:spcBef>
                <a:spcPts val="900"/>
              </a:spcBef>
              <a:buClrTx/>
              <a:buSzPct val="80000"/>
              <a:buFont typeface="Times Roman"/>
              <a:buBlip>
                <a:blip r:embed="rId2"/>
              </a:buBlip>
              <a:defRPr sz="1650"/>
            </a:pPr>
            <a:r>
              <a:t> Version control</a:t>
            </a:r>
          </a:p>
          <a:p>
            <a:pPr marL="276225" indent="-171450" defTabSz="342900">
              <a:lnSpc>
                <a:spcPct val="100000"/>
              </a:lnSpc>
              <a:spcBef>
                <a:spcPts val="900"/>
              </a:spcBef>
              <a:buClrTx/>
              <a:buSzPct val="80000"/>
              <a:buFont typeface="Times Roman"/>
              <a:buBlip>
                <a:blip r:embed="rId2"/>
              </a:buBlip>
              <a:defRPr sz="1650"/>
            </a:pPr>
            <a:r>
              <a:t> Team collaboration</a:t>
            </a:r>
          </a:p>
          <a:p>
            <a:pPr marL="276225" indent="-171450" defTabSz="342900">
              <a:lnSpc>
                <a:spcPct val="100000"/>
              </a:lnSpc>
              <a:spcBef>
                <a:spcPts val="900"/>
              </a:spcBef>
              <a:buClrTx/>
              <a:buSzPct val="80000"/>
              <a:buFont typeface="Times Roman"/>
              <a:buBlip>
                <a:blip r:embed="rId2"/>
              </a:buBlip>
              <a:defRPr sz="1650"/>
            </a:pPr>
            <a:r>
              <a:t> Code reviews</a:t>
            </a:r>
          </a:p>
          <a:p>
            <a:pPr marL="276225" indent="-171450" defTabSz="342900">
              <a:lnSpc>
                <a:spcPct val="100000"/>
              </a:lnSpc>
              <a:spcBef>
                <a:spcPts val="900"/>
              </a:spcBef>
              <a:buClrTx/>
              <a:buSzPct val="80000"/>
              <a:buFont typeface="Times Roman"/>
              <a:buBlip>
                <a:blip r:embed="rId2"/>
              </a:buBlip>
              <a:defRPr sz="1650"/>
            </a:pPr>
            <a:r>
              <a:t> Documentation</a:t>
            </a:r>
          </a:p>
          <a:p>
            <a:pPr marL="276225" indent="-171450" defTabSz="342900">
              <a:lnSpc>
                <a:spcPct val="100000"/>
              </a:lnSpc>
              <a:spcBef>
                <a:spcPts val="900"/>
              </a:spcBef>
              <a:buClrTx/>
              <a:buSzPct val="80000"/>
              <a:buFont typeface="Times Roman"/>
              <a:buBlip>
                <a:blip r:embed="rId2"/>
              </a:buBlip>
              <a:defRPr sz="1650"/>
            </a:pPr>
            <a:r>
              <a:t> Issue tracking</a:t>
            </a:r>
          </a:p>
          <a:p>
            <a:pPr marL="0" indent="0" defTabSz="342900">
              <a:lnSpc>
                <a:spcPct val="100000"/>
              </a:lnSpc>
              <a:spcBef>
                <a:spcPts val="900"/>
              </a:spcBef>
              <a:buClrTx/>
              <a:buSzTx/>
              <a:buFontTx/>
              <a:buNone/>
              <a:defRPr sz="1650"/>
            </a:pPr>
            <a:r>
              <a:t>GitHub serves as:</a:t>
            </a:r>
          </a:p>
          <a:p>
            <a:pPr marL="276225" indent="-171450" defTabSz="342900">
              <a:lnSpc>
                <a:spcPct val="100000"/>
              </a:lnSpc>
              <a:spcBef>
                <a:spcPts val="900"/>
              </a:spcBef>
              <a:buClr>
                <a:srgbClr val="000000"/>
              </a:buClr>
              <a:buSzPct val="80000"/>
              <a:buFont typeface="Times Roman"/>
              <a:buBlip>
                <a:blip r:embed="rId2"/>
              </a:buBlip>
              <a:defRPr sz="1650"/>
            </a:pPr>
            <a:r>
              <a:t> A history of changes</a:t>
            </a:r>
          </a:p>
          <a:p>
            <a:pPr marL="276225" indent="-171450" defTabSz="342900">
              <a:lnSpc>
                <a:spcPct val="100000"/>
              </a:lnSpc>
              <a:spcBef>
                <a:spcPts val="900"/>
              </a:spcBef>
              <a:buClr>
                <a:srgbClr val="000000"/>
              </a:buClr>
              <a:buSzPct val="80000"/>
              <a:buFont typeface="Times Roman"/>
              <a:buBlip>
                <a:blip r:embed="rId2"/>
              </a:buBlip>
              <a:defRPr sz="1650"/>
            </a:pPr>
            <a:r>
              <a:t> A collaboration workspace</a:t>
            </a:r>
          </a:p>
          <a:p>
            <a:pPr marL="276225" indent="-171450" defTabSz="342900">
              <a:lnSpc>
                <a:spcPct val="100000"/>
              </a:lnSpc>
              <a:spcBef>
                <a:spcPts val="900"/>
              </a:spcBef>
              <a:buClr>
                <a:srgbClr val="000000"/>
              </a:buClr>
              <a:buSzPct val="80000"/>
              <a:buFont typeface="Times Roman"/>
              <a:buBlip>
                <a:blip r:embed="rId2"/>
              </a:buBlip>
              <a:defRPr sz="1650"/>
            </a:pPr>
            <a:r>
              <a:t> A professional portfolio</a:t>
            </a:r>
          </a:p>
          <a:p>
            <a:pPr marL="276225" indent="-171450" defTabSz="342900">
              <a:lnSpc>
                <a:spcPct val="100000"/>
              </a:lnSpc>
              <a:spcBef>
                <a:spcPts val="900"/>
              </a:spcBef>
              <a:buClr>
                <a:srgbClr val="000000"/>
              </a:buClr>
              <a:buSzPct val="80000"/>
              <a:buFont typeface="Times Roman"/>
              <a:buBlip>
                <a:blip r:embed="rId2"/>
              </a:buBlip>
              <a:defRPr sz="1650"/>
            </a:pPr>
          </a:p>
        </p:txBody>
      </p:sp>
      <p:pic>
        <p:nvPicPr>
          <p:cNvPr id="299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681536" y="2459753"/>
            <a:ext cx="5292970" cy="297729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138;p2"/>
          <p:cNvSpPr txBox="1"/>
          <p:nvPr>
            <p:ph type="title"/>
          </p:nvPr>
        </p:nvSpPr>
        <p:spPr>
          <a:xfrm>
            <a:off x="762882" y="600492"/>
            <a:ext cx="10515601" cy="1143001"/>
          </a:xfrm>
          <a:prstGeom prst="rect">
            <a:avLst/>
          </a:prstGeom>
        </p:spPr>
        <p:txBody>
          <a:bodyPr/>
          <a:lstStyle>
            <a:lvl1pPr defTabSz="740663">
              <a:defRPr sz="3725"/>
            </a:lvl1pPr>
          </a:lstStyle>
          <a:p>
            <a:pPr/>
            <a:r>
              <a:t>Why GitHub Is Essential in Software Construction</a:t>
            </a:r>
          </a:p>
        </p:txBody>
      </p:sp>
      <p:sp>
        <p:nvSpPr>
          <p:cNvPr id="302" name="Google Shape;139;p2"/>
          <p:cNvSpPr txBox="1"/>
          <p:nvPr>
            <p:ph type="body" sz="half" idx="1"/>
          </p:nvPr>
        </p:nvSpPr>
        <p:spPr>
          <a:xfrm>
            <a:off x="838200" y="2669407"/>
            <a:ext cx="10515600" cy="2162335"/>
          </a:xfrm>
          <a:prstGeom prst="rect">
            <a:avLst/>
          </a:prstGeom>
        </p:spPr>
        <p:txBody>
          <a:bodyPr/>
          <a:lstStyle/>
          <a:p>
            <a:pPr marL="0" indent="0" defTabSz="786384">
              <a:spcBef>
                <a:spcPts val="0"/>
              </a:spcBef>
              <a:buSzTx/>
              <a:buNone/>
              <a:defRPr sz="2408"/>
            </a:pPr>
            <a:r>
              <a:t>GitHub allows teams to:</a:t>
            </a:r>
            <a:endParaRPr sz="2064"/>
          </a:p>
          <a:p>
            <a:pPr lvl="1" marL="664915" indent="-168510" defTabSz="786384">
              <a:spcBef>
                <a:spcPts val="800"/>
              </a:spcBef>
              <a:buSzPts val="2000"/>
              <a:defRPr sz="2408"/>
            </a:pPr>
            <a:r>
              <a:rPr sz="2064"/>
              <a:t> </a:t>
            </a:r>
            <a:r>
              <a:t>Track every change made to the code</a:t>
            </a:r>
          </a:p>
          <a:p>
            <a:pPr lvl="1" marL="693000" indent="-196596" defTabSz="786384">
              <a:spcBef>
                <a:spcPts val="800"/>
              </a:spcBef>
              <a:buSzPts val="2400"/>
              <a:defRPr sz="2408"/>
            </a:pPr>
            <a:r>
              <a:t> Identify when and why bugs were introduced</a:t>
            </a:r>
          </a:p>
          <a:p>
            <a:pPr lvl="1" marL="693000" indent="-196596" defTabSz="786384">
              <a:spcBef>
                <a:spcPts val="800"/>
              </a:spcBef>
              <a:buSzPts val="2400"/>
              <a:defRPr sz="2408"/>
            </a:pPr>
            <a:r>
              <a:t> Work in parallel without overwriting work</a:t>
            </a:r>
          </a:p>
          <a:p>
            <a:pPr lvl="1" marL="693000" indent="-196596" defTabSz="786384">
              <a:spcBef>
                <a:spcPts val="800"/>
              </a:spcBef>
              <a:buSzPts val="2400"/>
              <a:defRPr sz="2408"/>
            </a:pPr>
            <a:r>
              <a:t> Recover from mistakes safely</a:t>
            </a:r>
          </a:p>
        </p:txBody>
      </p:sp>
      <p:sp>
        <p:nvSpPr>
          <p:cNvPr id="303" name="Modern software construction is impossible without version control."/>
          <p:cNvSpPr txBox="1"/>
          <p:nvPr/>
        </p:nvSpPr>
        <p:spPr>
          <a:xfrm>
            <a:off x="1783091" y="4887840"/>
            <a:ext cx="418613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457200">
              <a:spcBef>
                <a:spcPts val="120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Modern software construction is impossible without version control.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138;p2"/>
          <p:cNvSpPr txBox="1"/>
          <p:nvPr>
            <p:ph type="title"/>
          </p:nvPr>
        </p:nvSpPr>
        <p:spPr>
          <a:xfrm>
            <a:off x="617813" y="572248"/>
            <a:ext cx="10515601" cy="1143001"/>
          </a:xfrm>
          <a:prstGeom prst="rect">
            <a:avLst/>
          </a:prstGeom>
        </p:spPr>
        <p:txBody>
          <a:bodyPr/>
          <a:lstStyle>
            <a:lvl1pPr defTabSz="749808">
              <a:defRPr sz="3772"/>
            </a:lvl1pPr>
          </a:lstStyle>
          <a:p>
            <a:pPr/>
            <a:r>
              <a:t>Responsible Use of AI in Understanding Code</a:t>
            </a:r>
          </a:p>
        </p:txBody>
      </p:sp>
      <p:sp>
        <p:nvSpPr>
          <p:cNvPr id="306" name="Google Shape;139;p2"/>
          <p:cNvSpPr txBox="1"/>
          <p:nvPr>
            <p:ph type="body" idx="1"/>
          </p:nvPr>
        </p:nvSpPr>
        <p:spPr>
          <a:xfrm>
            <a:off x="376881" y="2118557"/>
            <a:ext cx="11438238" cy="4262228"/>
          </a:xfrm>
          <a:prstGeom prst="rect">
            <a:avLst/>
          </a:prstGeom>
        </p:spPr>
        <p:txBody>
          <a:bodyPr/>
          <a:lstStyle/>
          <a:p>
            <a:pPr marL="0" indent="0" defTabSz="374904">
              <a:lnSpc>
                <a:spcPct val="100000"/>
              </a:lnSpc>
              <a:spcBef>
                <a:spcPts val="900"/>
              </a:spcBef>
              <a:buClrTx/>
              <a:buSzTx/>
              <a:buFontTx/>
              <a:buNone/>
              <a:defRPr sz="1803"/>
            </a:pPr>
            <a:r>
              <a:t>AI tools can assist developers by:</a:t>
            </a:r>
          </a:p>
          <a:p>
            <a:pPr marL="302006" indent="-187452" defTabSz="374904">
              <a:lnSpc>
                <a:spcPct val="100000"/>
              </a:lnSpc>
              <a:spcBef>
                <a:spcPts val="900"/>
              </a:spcBef>
              <a:buClrTx/>
              <a:buSzPct val="80000"/>
              <a:buFont typeface="Times Roman"/>
              <a:buBlip>
                <a:blip r:embed="rId2"/>
              </a:buBlip>
              <a:defRPr sz="1803"/>
            </a:pPr>
            <a:r>
              <a:t> Explaining unfamiliar code</a:t>
            </a:r>
          </a:p>
          <a:p>
            <a:pPr marL="302006" indent="-187452" defTabSz="374904">
              <a:lnSpc>
                <a:spcPct val="100000"/>
              </a:lnSpc>
              <a:spcBef>
                <a:spcPts val="900"/>
              </a:spcBef>
              <a:buClrTx/>
              <a:buSzPct val="80000"/>
              <a:buFont typeface="Times Roman"/>
              <a:buBlip>
                <a:blip r:embed="rId2"/>
              </a:buBlip>
              <a:defRPr sz="1803"/>
            </a:pPr>
            <a:r>
              <a:t> Summarizing logic</a:t>
            </a:r>
          </a:p>
          <a:p>
            <a:pPr marL="302006" indent="-187452" defTabSz="374904">
              <a:lnSpc>
                <a:spcPct val="100000"/>
              </a:lnSpc>
              <a:spcBef>
                <a:spcPts val="900"/>
              </a:spcBef>
              <a:buClrTx/>
              <a:buSzPct val="80000"/>
              <a:buFont typeface="Times Roman"/>
              <a:buBlip>
                <a:blip r:embed="rId2"/>
              </a:buBlip>
              <a:defRPr sz="1803"/>
            </a:pPr>
            <a:r>
              <a:t> Suggesting refactoring ideas </a:t>
            </a:r>
          </a:p>
          <a:p>
            <a:pPr marL="302006" indent="-187452" defTabSz="374904">
              <a:lnSpc>
                <a:spcPct val="100000"/>
              </a:lnSpc>
              <a:spcBef>
                <a:spcPts val="900"/>
              </a:spcBef>
              <a:buClrTx/>
              <a:buSzPct val="80000"/>
              <a:buFont typeface="Times Roman"/>
              <a:buBlip>
                <a:blip r:embed="rId2"/>
              </a:buBlip>
              <a:defRPr sz="1803"/>
            </a:pPr>
            <a:r>
              <a:t> Generating test ideas</a:t>
            </a:r>
          </a:p>
          <a:p>
            <a:pPr marL="0" indent="0" defTabSz="374904">
              <a:lnSpc>
                <a:spcPct val="100000"/>
              </a:lnSpc>
              <a:spcBef>
                <a:spcPts val="900"/>
              </a:spcBef>
              <a:buClrTx/>
              <a:buSzTx/>
              <a:buFontTx/>
              <a:buNone/>
              <a:defRPr sz="1803"/>
            </a:pPr>
            <a:r>
              <a:t>However:</a:t>
            </a:r>
          </a:p>
          <a:p>
            <a:pPr marL="302006" indent="-187452" defTabSz="374904">
              <a:lnSpc>
                <a:spcPct val="100000"/>
              </a:lnSpc>
              <a:spcBef>
                <a:spcPts val="900"/>
              </a:spcBef>
              <a:buClr>
                <a:srgbClr val="000000"/>
              </a:buClr>
              <a:buSzPct val="80000"/>
              <a:buFont typeface="Times Roman"/>
              <a:buBlip>
                <a:blip r:embed="rId2"/>
              </a:buBlip>
              <a:defRPr sz="1803"/>
            </a:pPr>
            <a:r>
              <a:t> AI lacks full project context</a:t>
            </a:r>
          </a:p>
          <a:p>
            <a:pPr marL="302006" indent="-187452" defTabSz="374904">
              <a:lnSpc>
                <a:spcPct val="100000"/>
              </a:lnSpc>
              <a:spcBef>
                <a:spcPts val="900"/>
              </a:spcBef>
              <a:buClr>
                <a:srgbClr val="000000"/>
              </a:buClr>
              <a:buSzPct val="80000"/>
              <a:buFont typeface="Times Roman"/>
              <a:buBlip>
                <a:blip r:embed="rId2"/>
              </a:buBlip>
              <a:defRPr sz="1803"/>
            </a:pPr>
            <a:r>
              <a:t> AI outputs can be incorrect</a:t>
            </a:r>
          </a:p>
          <a:p>
            <a:pPr marL="302006" indent="-187452" defTabSz="374904">
              <a:lnSpc>
                <a:spcPct val="100000"/>
              </a:lnSpc>
              <a:spcBef>
                <a:spcPts val="900"/>
              </a:spcBef>
              <a:buClr>
                <a:srgbClr val="000000"/>
              </a:buClr>
              <a:buSzPct val="80000"/>
              <a:buFont typeface="Times Roman"/>
              <a:buBlip>
                <a:blip r:embed="rId2"/>
              </a:buBlip>
              <a:defRPr sz="1803"/>
            </a:pPr>
            <a:r>
              <a:t> Accountability remains with the developer</a:t>
            </a:r>
          </a:p>
          <a:p>
            <a:pPr marL="302006" indent="-187452" defTabSz="374904">
              <a:lnSpc>
                <a:spcPct val="100000"/>
              </a:lnSpc>
              <a:spcBef>
                <a:spcPts val="900"/>
              </a:spcBef>
              <a:buClr>
                <a:srgbClr val="000000"/>
              </a:buClr>
              <a:buSzPct val="80000"/>
              <a:buFont typeface="Times Roman"/>
              <a:buBlip>
                <a:blip r:embed="rId2"/>
              </a:buBlip>
              <a:defRPr sz="1803"/>
            </a:pPr>
          </a:p>
        </p:txBody>
      </p:sp>
      <p:pic>
        <p:nvPicPr>
          <p:cNvPr id="307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627899" y="1913673"/>
            <a:ext cx="4471756" cy="374866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138;p2"/>
          <p:cNvSpPr txBox="1"/>
          <p:nvPr>
            <p:ph type="title"/>
          </p:nvPr>
        </p:nvSpPr>
        <p:spPr>
          <a:xfrm>
            <a:off x="617813" y="572248"/>
            <a:ext cx="10515601" cy="1143001"/>
          </a:xfrm>
          <a:prstGeom prst="rect">
            <a:avLst/>
          </a:prstGeom>
        </p:spPr>
        <p:txBody>
          <a:bodyPr/>
          <a:lstStyle>
            <a:lvl1pPr defTabSz="749808">
              <a:defRPr sz="3772"/>
            </a:lvl1pPr>
          </a:lstStyle>
          <a:p>
            <a:pPr/>
            <a:r>
              <a:t>Academic and Ethical Perspective on AI</a:t>
            </a:r>
          </a:p>
        </p:txBody>
      </p:sp>
      <p:sp>
        <p:nvSpPr>
          <p:cNvPr id="310" name="Google Shape;139;p2"/>
          <p:cNvSpPr txBox="1"/>
          <p:nvPr>
            <p:ph type="body" idx="1"/>
          </p:nvPr>
        </p:nvSpPr>
        <p:spPr>
          <a:xfrm>
            <a:off x="376881" y="2118556"/>
            <a:ext cx="11438238" cy="4262229"/>
          </a:xfrm>
          <a:prstGeom prst="rect">
            <a:avLst/>
          </a:prstGeom>
        </p:spPr>
        <p:txBody>
          <a:bodyPr/>
          <a:lstStyle/>
          <a:p>
            <a:pPr marL="0" indent="0" defTabSz="420623">
              <a:lnSpc>
                <a:spcPct val="100000"/>
              </a:lnSpc>
              <a:spcBef>
                <a:spcPts val="1100"/>
              </a:spcBef>
              <a:buClrTx/>
              <a:buSzTx/>
              <a:buFontTx/>
              <a:buNone/>
              <a:defRPr sz="2024"/>
            </a:pPr>
            <a:r>
              <a:t>Acceptable use of AI:</a:t>
            </a:r>
          </a:p>
          <a:p>
            <a:pPr marL="338836" indent="-210311" defTabSz="420623">
              <a:lnSpc>
                <a:spcPct val="100000"/>
              </a:lnSpc>
              <a:spcBef>
                <a:spcPts val="1100"/>
              </a:spcBef>
              <a:buClrTx/>
              <a:buSzPct val="80000"/>
              <a:buFont typeface="Times Roman"/>
              <a:buBlip>
                <a:blip r:embed="rId2"/>
              </a:buBlip>
              <a:defRPr sz="2024"/>
            </a:pPr>
            <a:r>
              <a:t> Learning and exploration</a:t>
            </a:r>
          </a:p>
          <a:p>
            <a:pPr marL="338836" indent="-210311" defTabSz="420623">
              <a:lnSpc>
                <a:spcPct val="100000"/>
              </a:lnSpc>
              <a:spcBef>
                <a:spcPts val="1100"/>
              </a:spcBef>
              <a:buClrTx/>
              <a:buSzPct val="80000"/>
              <a:buFont typeface="Times Roman"/>
              <a:buBlip>
                <a:blip r:embed="rId2"/>
              </a:buBlip>
              <a:defRPr sz="2024"/>
            </a:pPr>
            <a:r>
              <a:t> Understanding existing code</a:t>
            </a:r>
          </a:p>
          <a:p>
            <a:pPr marL="338836" indent="-210311" defTabSz="420623">
              <a:lnSpc>
                <a:spcPct val="100000"/>
              </a:lnSpc>
              <a:spcBef>
                <a:spcPts val="1100"/>
              </a:spcBef>
              <a:buClrTx/>
              <a:buSzPct val="80000"/>
              <a:buFont typeface="Times Roman"/>
              <a:buBlip>
                <a:blip r:embed="rId2"/>
              </a:buBlip>
              <a:defRPr sz="2024"/>
            </a:pPr>
            <a:r>
              <a:t> Improving documentation</a:t>
            </a:r>
          </a:p>
          <a:p>
            <a:pPr marL="0" indent="0" defTabSz="420623">
              <a:lnSpc>
                <a:spcPct val="100000"/>
              </a:lnSpc>
              <a:spcBef>
                <a:spcPts val="1100"/>
              </a:spcBef>
              <a:buClrTx/>
              <a:buSzTx/>
              <a:buFontTx/>
              <a:buNone/>
              <a:defRPr sz="2024"/>
            </a:pPr>
            <a:r>
              <a:t>Unacceptable use:</a:t>
            </a:r>
          </a:p>
          <a:p>
            <a:pPr marL="338836" indent="-210311" defTabSz="420623">
              <a:lnSpc>
                <a:spcPct val="100000"/>
              </a:lnSpc>
              <a:spcBef>
                <a:spcPts val="1100"/>
              </a:spcBef>
              <a:buClr>
                <a:srgbClr val="000000"/>
              </a:buClr>
              <a:buSzPct val="80000"/>
              <a:buFont typeface="Times Roman"/>
              <a:buBlip>
                <a:blip r:embed="rId2"/>
              </a:buBlip>
              <a:defRPr sz="2024"/>
            </a:pPr>
            <a:r>
              <a:t> Blind copy-paste</a:t>
            </a:r>
          </a:p>
          <a:p>
            <a:pPr marL="338836" indent="-210311" defTabSz="420623">
              <a:lnSpc>
                <a:spcPct val="100000"/>
              </a:lnSpc>
              <a:spcBef>
                <a:spcPts val="1100"/>
              </a:spcBef>
              <a:buClr>
                <a:srgbClr val="000000"/>
              </a:buClr>
              <a:buSzPct val="80000"/>
              <a:buFont typeface="Times Roman"/>
              <a:buBlip>
                <a:blip r:embed="rId2"/>
              </a:buBlip>
              <a:defRPr sz="2024"/>
            </a:pPr>
            <a:r>
              <a:t> Submitting work without understanding</a:t>
            </a:r>
          </a:p>
          <a:p>
            <a:pPr marL="338836" indent="-210311" defTabSz="420623">
              <a:lnSpc>
                <a:spcPct val="100000"/>
              </a:lnSpc>
              <a:spcBef>
                <a:spcPts val="1100"/>
              </a:spcBef>
              <a:buClr>
                <a:srgbClr val="000000"/>
              </a:buClr>
              <a:buSzPct val="80000"/>
              <a:buFont typeface="Times Roman"/>
              <a:buBlip>
                <a:blip r:embed="rId2"/>
              </a:buBlip>
              <a:defRPr sz="2024"/>
            </a:pPr>
            <a:r>
              <a:t> Using AI to replace reasoning</a:t>
            </a:r>
          </a:p>
          <a:p>
            <a:pPr marL="338836" indent="-210311" defTabSz="420623">
              <a:lnSpc>
                <a:spcPct val="100000"/>
              </a:lnSpc>
              <a:spcBef>
                <a:spcPts val="1100"/>
              </a:spcBef>
              <a:buClr>
                <a:srgbClr val="000000"/>
              </a:buClr>
              <a:buSzPct val="80000"/>
              <a:buFont typeface="Times Roman"/>
              <a:buBlip>
                <a:blip r:embed="rId2"/>
              </a:buBlip>
              <a:defRPr sz="2024"/>
            </a:pPr>
          </a:p>
        </p:txBody>
      </p:sp>
      <p:pic>
        <p:nvPicPr>
          <p:cNvPr id="311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298308" y="2146681"/>
            <a:ext cx="5218087" cy="37505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138;p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749808">
              <a:defRPr sz="3772"/>
            </a:lvl1pPr>
          </a:lstStyle>
          <a:p>
            <a:pPr/>
            <a:r>
              <a:t>Lecture Summary</a:t>
            </a:r>
          </a:p>
        </p:txBody>
      </p:sp>
      <p:sp>
        <p:nvSpPr>
          <p:cNvPr id="314" name="Google Shape;139;p2"/>
          <p:cNvSpPr txBox="1"/>
          <p:nvPr>
            <p:ph type="body" sz="half" idx="1"/>
          </p:nvPr>
        </p:nvSpPr>
        <p:spPr>
          <a:xfrm>
            <a:off x="838200" y="2669407"/>
            <a:ext cx="10515600" cy="2162335"/>
          </a:xfrm>
          <a:prstGeom prst="rect">
            <a:avLst/>
          </a:prstGeom>
        </p:spPr>
        <p:txBody>
          <a:bodyPr/>
          <a:lstStyle/>
          <a:p>
            <a:pPr lvl="1" marL="693000" indent="-196596" defTabSz="786384">
              <a:spcBef>
                <a:spcPts val="800"/>
              </a:spcBef>
              <a:buSzPts val="2400"/>
              <a:defRPr sz="2408"/>
            </a:pPr>
            <a:r>
              <a:t> User Software Construction is broader than programming</a:t>
            </a:r>
          </a:p>
          <a:p>
            <a:pPr lvl="1" marL="693000" indent="-196596" defTabSz="786384">
              <a:spcBef>
                <a:spcPts val="800"/>
              </a:spcBef>
              <a:buSzPts val="2400"/>
              <a:defRPr sz="2408"/>
            </a:pPr>
            <a:r>
              <a:t> Software must be designed to evolve</a:t>
            </a:r>
          </a:p>
          <a:p>
            <a:pPr lvl="1" marL="693000" indent="-196596" defTabSz="786384">
              <a:spcBef>
                <a:spcPts val="800"/>
              </a:spcBef>
              <a:buSzPts val="2400"/>
              <a:defRPr sz="2408"/>
            </a:pPr>
            <a:r>
              <a:t> Maintainability is a core quality attribute</a:t>
            </a:r>
          </a:p>
          <a:p>
            <a:pPr lvl="1" marL="693000" indent="-196596" defTabSz="786384">
              <a:spcBef>
                <a:spcPts val="800"/>
              </a:spcBef>
              <a:buSzPts val="2400"/>
              <a:defRPr sz="2408"/>
            </a:pPr>
            <a:r>
              <a:t> GitHub is a fundamental professional tool</a:t>
            </a:r>
          </a:p>
          <a:p>
            <a:pPr lvl="1" marL="693000" indent="-196596" defTabSz="786384">
              <a:spcBef>
                <a:spcPts val="800"/>
              </a:spcBef>
              <a:buSzPts val="2400"/>
              <a:defRPr sz="2408"/>
            </a:pPr>
            <a:r>
              <a:t> AI must be used responsibly and ethically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