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E5EE"/>
          </a:solidFill>
        </a:fill>
      </a:tcStyle>
    </a:wholeTbl>
    <a:band2H>
      <a:tcTxStyle b="def" i="def"/>
      <a:tcStyle>
        <a:tcBdr/>
        <a:fill>
          <a:solidFill>
            <a:srgbClr val="EEF2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2D7"/>
          </a:solidFill>
        </a:fill>
      </a:tcStyle>
    </a:wholeTbl>
    <a:band2H>
      <a:tcTxStyle b="def" i="def"/>
      <a:tcStyle>
        <a:tcBdr/>
        <a:fill>
          <a:solidFill>
            <a:srgbClr val="F0F1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DADA"/>
          </a:solidFill>
        </a:fill>
      </a:tcStyle>
    </a:wholeTbl>
    <a:band2H>
      <a:tcTxStyle b="def" i="def"/>
      <a:tcStyle>
        <a:tcBdr/>
        <a:fill>
          <a:solidFill>
            <a:srgbClr val="EEED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Shape 23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hyperlink" Target="https://ucu.ac.ug/" TargetMode="External"/><Relationship Id="rId10" Type="http://schemas.openxmlformats.org/officeDocument/2006/relationships/image" Target="../media/image6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2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23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4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34619" algn="ctr">
              <a:buClrTx/>
              <a:buSzTx/>
              <a:buFontTx/>
              <a:buNone/>
              <a:defRPr sz="2400"/>
            </a:lvl2pPr>
            <a:lvl3pPr marL="406400" indent="622300" algn="ctr">
              <a:buClrTx/>
              <a:buSzTx/>
              <a:buFontTx/>
              <a:buNone/>
              <a:defRPr sz="2400"/>
            </a:lvl3pPr>
            <a:lvl4pPr marL="406400" indent="1093216" algn="ctr">
              <a:buClrTx/>
              <a:buSzTx/>
              <a:buFontTx/>
              <a:buNone/>
              <a:defRPr sz="2400"/>
            </a:lvl4pPr>
            <a:lvl5pPr marL="406400" indent="1552701" algn="ctr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5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7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48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9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Google Shape;37;p13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2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3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4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65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66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solidFill>
            <a:srgbClr val="D7014D"/>
          </a:solidFill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Google Shape;44;p14"/>
          <p:cNvSpPr txBox="1"/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Google Shape;45;p14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solidFill>
            <a:srgbClr val="FFD932"/>
          </a:solidFill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pPr>
          </a:p>
        </p:txBody>
      </p:sp>
      <p:sp>
        <p:nvSpPr>
          <p:cNvPr id="71" name="Google Shape;46;p14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81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82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83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84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5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95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96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97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98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9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1187" indent="-454297">
              <a:buSzPts val="3200"/>
              <a:defRPr sz="3200"/>
            </a:lvl2pPr>
            <a:lvl3pPr marL="1493520" indent="-487680">
              <a:buSzPts val="3200"/>
              <a:defRPr sz="3200"/>
            </a:lvl3pPr>
            <a:lvl4pPr marL="2033016" indent="-544576">
              <a:buSzPts val="3200"/>
              <a:defRPr sz="3200"/>
            </a:lvl4pPr>
            <a:lvl5pPr marL="2488692" indent="-540512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Google Shape;57;p16"/>
          <p:cNvSpPr txBox="1"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12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13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14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15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16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18" name="Google Shape;63;p17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9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29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30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31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32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3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5" name="Google Shape;72;p18"/>
          <p:cNvGrpSpPr/>
          <p:nvPr/>
        </p:nvGrpSpPr>
        <p:grpSpPr>
          <a:xfrm>
            <a:off x="888266" y="4604422"/>
            <a:ext cx="5505407" cy="1360804"/>
            <a:chOff x="0" y="0"/>
            <a:chExt cx="5505405" cy="1360803"/>
          </a:xfrm>
        </p:grpSpPr>
        <p:grpSp>
          <p:nvGrpSpPr>
            <p:cNvPr id="143" name="Google Shape;73;p18"/>
            <p:cNvGrpSpPr/>
            <p:nvPr/>
          </p:nvGrpSpPr>
          <p:grpSpPr>
            <a:xfrm>
              <a:off x="1197396" y="0"/>
              <a:ext cx="4308010" cy="1352488"/>
              <a:chOff x="0" y="0"/>
              <a:chExt cx="4308008" cy="1352487"/>
            </a:xfrm>
          </p:grpSpPr>
          <p:pic>
            <p:nvPicPr>
              <p:cNvPr id="134" name="Google Shape;74;p18" descr="Google Shape;74;p18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rcRect l="0" t="0" r="66494" b="67238"/>
              <a:stretch>
                <a:fillRect/>
              </a:stretch>
            </p:blipFill>
            <p:spPr>
              <a:xfrm>
                <a:off x="36013" y="898973"/>
                <a:ext cx="208941" cy="2159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35" name="Google Shape;75;p18" descr="Google Shape;75;p18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67402" t="0" r="0" b="69905"/>
              <a:stretch>
                <a:fillRect/>
              </a:stretch>
            </p:blipFill>
            <p:spPr>
              <a:xfrm>
                <a:off x="29839" y="1113805"/>
                <a:ext cx="221285" cy="2159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36" name="Google Shape;76;p18" descr="Google Shape;76;p18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36013" y="618763"/>
                <a:ext cx="208939" cy="2159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37" name="Google Shape;77;p18"/>
              <p:cNvSpPr txBox="1"/>
              <p:nvPr/>
            </p:nvSpPr>
            <p:spPr>
              <a:xfrm>
                <a:off x="291920" y="836806"/>
                <a:ext cx="2393787" cy="269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 sz="1200">
                    <a:latin typeface="Trebuchet MS"/>
                    <a:ea typeface="Trebuchet MS"/>
                    <a:cs typeface="Trebuchet MS"/>
                    <a:sym typeface="Trebuchet MS"/>
                  </a:defRPr>
                </a:lvl1pPr>
              </a:lstStyle>
              <a:p>
                <a:pPr/>
                <a:r>
                  <a:t>@ugandachristianuniversity</a:t>
                </a:r>
              </a:p>
            </p:txBody>
          </p:sp>
          <p:sp>
            <p:nvSpPr>
              <p:cNvPr id="138" name="Google Shape;78;p18"/>
              <p:cNvSpPr txBox="1"/>
              <p:nvPr/>
            </p:nvSpPr>
            <p:spPr>
              <a:xfrm>
                <a:off x="2623437" y="843339"/>
                <a:ext cx="1401767" cy="2819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/>
              <a:p>
                <a:pPr>
                  <a:defRPr sz="13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t>@</a:t>
                </a:r>
                <a:r>
                  <a:rPr sz="1200"/>
                  <a:t>UCUniversity</a:t>
                </a:r>
              </a:p>
            </p:txBody>
          </p:sp>
          <p:sp>
            <p:nvSpPr>
              <p:cNvPr id="139" name="Google Shape;79;p18"/>
              <p:cNvSpPr txBox="1"/>
              <p:nvPr/>
            </p:nvSpPr>
            <p:spPr>
              <a:xfrm>
                <a:off x="306478" y="1083287"/>
                <a:ext cx="2625045" cy="269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lvl1pPr>
              </a:lstStyle>
              <a:p>
                <a:pPr/>
                <a:r>
                  <a:t>@UgandaChristianUniversity</a:t>
                </a:r>
              </a:p>
            </p:txBody>
          </p:sp>
          <p:sp>
            <p:nvSpPr>
              <p:cNvPr id="140" name="Google Shape;80;p18"/>
              <p:cNvSpPr txBox="1"/>
              <p:nvPr/>
            </p:nvSpPr>
            <p:spPr>
              <a:xfrm>
                <a:off x="19708" y="234562"/>
                <a:ext cx="4288301" cy="548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/>
              <a:p>
                <a:pPr>
                  <a:defRPr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t>P.O. Box 4 Mukono, Uganda</a:t>
                </a:r>
              </a:p>
              <a:p>
                <a:pPr>
                  <a:defRPr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t>Tel: 256-312-350800</a:t>
                </a:r>
              </a:p>
              <a:p>
                <a:pPr>
                  <a:defRPr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rPr>
                    <a:solidFill>
                      <a:srgbClr val="F7B615"/>
                    </a:solidFill>
                    <a:uFill>
                      <a:solidFill>
                        <a:srgbClr val="F7B615"/>
                      </a:solidFill>
                    </a:uFill>
                    <a:hlinkClick r:id="rId9" invalidUrl="" action="" tgtFrame="" tooltip="" history="1" highlightClick="0" endSnd="0"/>
                  </a:rPr>
                  <a:t>      https://ucu.ac.ug/</a:t>
                </a:r>
                <a:r>
                  <a:rPr u="none"/>
                  <a:t> </a:t>
                </a:r>
                <a:r>
                  <a:rPr u="none">
                    <a:solidFill>
                      <a:srgbClr val="1E4E79"/>
                    </a:solidFill>
                  </a:rPr>
                  <a:t>   Email: </a:t>
                </a:r>
                <a:r>
                  <a:rPr>
                    <a:solidFill>
                      <a:srgbClr val="F7B615"/>
                    </a:solidFill>
                    <a:uFill>
                      <a:solidFill>
                        <a:srgbClr val="F7B615"/>
                      </a:solidFill>
                    </a:uFill>
                    <a:hlinkClick r:id="rId3" invalidUrl="" action="" tgtFrame="" tooltip="" history="1" highlightClick="0" endSnd="0"/>
                  </a:rPr>
                  <a:t>info@ucu.ac.ug</a:t>
                </a:r>
                <a:r>
                  <a:rPr u="none"/>
                  <a:t>.   </a:t>
                </a:r>
              </a:p>
            </p:txBody>
          </p:sp>
          <p:sp>
            <p:nvSpPr>
              <p:cNvPr id="141" name="Google Shape;81;p18"/>
              <p:cNvSpPr txBox="1"/>
              <p:nvPr/>
            </p:nvSpPr>
            <p:spPr>
              <a:xfrm>
                <a:off x="0" y="0"/>
                <a:ext cx="3408791" cy="3327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 b="1" sz="16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lvl1pPr>
              </a:lstStyle>
              <a:p>
                <a:pPr/>
                <a:r>
                  <a:t>Uganda Christian University</a:t>
                </a:r>
              </a:p>
            </p:txBody>
          </p:sp>
          <p:pic>
            <p:nvPicPr>
              <p:cNvPr id="142" name="Google Shape;82;p18" descr="Google Shape;82;p18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0" t="34921" r="64674" b="31936"/>
              <a:stretch>
                <a:fillRect/>
              </a:stretch>
            </p:blipFill>
            <p:spPr>
              <a:xfrm>
                <a:off x="2383348" y="892900"/>
                <a:ext cx="218372" cy="2165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44" name="Google Shape;83;p18" descr="Google Shape;83;p18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4177" t="16271" r="77310" b="16736"/>
            <a:stretch>
              <a:fillRect/>
            </a:stretch>
          </p:blipFill>
          <p:spPr>
            <a:xfrm>
              <a:off x="0" y="40177"/>
              <a:ext cx="1197779" cy="13206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46" name="Google Shape;84;p18" descr="Google Shape;84;p18"/>
          <p:cNvPicPr>
            <a:picLocks noChangeAspect="1"/>
          </p:cNvPicPr>
          <p:nvPr/>
        </p:nvPicPr>
        <p:blipFill>
          <a:blip r:embed="rId10">
            <a:extLst/>
          </a:blip>
          <a:srcRect l="0" t="0" r="0" b="13042"/>
          <a:stretch>
            <a:fillRect/>
          </a:stretch>
        </p:blipFill>
        <p:spPr>
          <a:xfrm>
            <a:off x="5409984" y="1899156"/>
            <a:ext cx="1825645" cy="170412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5" name="Google Shape;85;p18"/>
          <p:cNvGrpSpPr/>
          <p:nvPr/>
        </p:nvGrpSpPr>
        <p:grpSpPr>
          <a:xfrm>
            <a:off x="8268806" y="4505033"/>
            <a:ext cx="4618968" cy="1334068"/>
            <a:chOff x="0" y="0"/>
            <a:chExt cx="4618966" cy="1334066"/>
          </a:xfrm>
        </p:grpSpPr>
        <p:pic>
          <p:nvPicPr>
            <p:cNvPr id="147" name="Google Shape;86;p18" descr="Google Shape;86;p18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66494" b="67238"/>
            <a:stretch>
              <a:fillRect/>
            </a:stretch>
          </p:blipFill>
          <p:spPr>
            <a:xfrm>
              <a:off x="14690" y="864004"/>
              <a:ext cx="232775" cy="2405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8" name="Google Shape;87;p18" descr="Google Shape;87;p18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9239" y="1114781"/>
              <a:ext cx="205665" cy="212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9" name="Google Shape;89;p18"/>
            <p:cNvSpPr txBox="1"/>
            <p:nvPr/>
          </p:nvSpPr>
          <p:spPr>
            <a:xfrm>
              <a:off x="240508" y="1090266"/>
              <a:ext cx="155113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100">
                  <a:solidFill>
                    <a:srgbClr val="0000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https://cse.ucu.ac.ug/</a:t>
              </a:r>
            </a:p>
          </p:txBody>
        </p:sp>
        <p:sp>
          <p:nvSpPr>
            <p:cNvPr id="150" name="Google Shape;90;p18"/>
            <p:cNvSpPr txBox="1"/>
            <p:nvPr/>
          </p:nvSpPr>
          <p:spPr>
            <a:xfrm>
              <a:off x="1697300" y="842439"/>
              <a:ext cx="1376274" cy="269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@ucu_ComputEng</a:t>
              </a:r>
            </a:p>
          </p:txBody>
        </p:sp>
        <p:sp>
          <p:nvSpPr>
            <p:cNvPr id="151" name="Google Shape;91;p18"/>
            <p:cNvSpPr txBox="1"/>
            <p:nvPr/>
          </p:nvSpPr>
          <p:spPr>
            <a:xfrm>
              <a:off x="240508" y="827369"/>
              <a:ext cx="1234810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1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@ucucomputeng</a:t>
              </a:r>
            </a:p>
          </p:txBody>
        </p:sp>
        <p:sp>
          <p:nvSpPr>
            <p:cNvPr id="152" name="Google Shape;92;p18"/>
            <p:cNvSpPr txBox="1"/>
            <p:nvPr/>
          </p:nvSpPr>
          <p:spPr>
            <a:xfrm>
              <a:off x="17028" y="533715"/>
              <a:ext cx="460193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1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Tel: +256 (0) 312 350 863 | WhatsApp: +256 (0) 708 114 300</a:t>
              </a:r>
            </a:p>
          </p:txBody>
        </p:sp>
        <p:sp>
          <p:nvSpPr>
            <p:cNvPr id="153" name="Google Shape;93;p18"/>
            <p:cNvSpPr txBox="1"/>
            <p:nvPr/>
          </p:nvSpPr>
          <p:spPr>
            <a:xfrm>
              <a:off x="0" y="0"/>
              <a:ext cx="4601939" cy="510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 b="1" sz="16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t>Department of Computing &amp; Technology</a:t>
              </a:r>
            </a:p>
            <a:p>
              <a:pPr>
                <a:defRPr b="1" sz="1200">
                  <a:solidFill>
                    <a:srgbClr val="C00000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t>FACULTY OF ENGINEERING, DESIGN AND TECHNOLOGY</a:t>
              </a:r>
            </a:p>
          </p:txBody>
        </p:sp>
        <p:pic>
          <p:nvPicPr>
            <p:cNvPr id="154" name="Google Shape;94;p18" descr="Google Shape;94;p18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0" t="34921" r="64674" b="31937"/>
            <a:stretch>
              <a:fillRect/>
            </a:stretch>
          </p:blipFill>
          <p:spPr>
            <a:xfrm>
              <a:off x="1471148" y="888907"/>
              <a:ext cx="252462" cy="2503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6" name="Google Shape;95;p18"/>
          <p:cNvSpPr txBox="1"/>
          <p:nvPr/>
        </p:nvSpPr>
        <p:spPr>
          <a:xfrm>
            <a:off x="10127233" y="5598486"/>
            <a:ext cx="1909294" cy="24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1100">
                <a:solidFill>
                  <a:srgbClr val="1E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Email: dct-</a:t>
            </a:r>
            <a:r>
              <a:rPr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</a:p>
        </p:txBody>
      </p:sp>
      <p:pic>
        <p:nvPicPr>
          <p:cNvPr id="157" name="Google Shape;96;p18" descr="Google Shape;96;p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7631107" y="4473507"/>
            <a:ext cx="634565" cy="1407475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Google Shape;97;p18"/>
          <p:cNvSpPr/>
          <p:nvPr/>
        </p:nvSpPr>
        <p:spPr>
          <a:xfrm flipH="1">
            <a:off x="345988" y="4505033"/>
            <a:ext cx="11846013" cy="105017"/>
          </a:xfrm>
          <a:prstGeom prst="line">
            <a:avLst/>
          </a:prstGeom>
          <a:ln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69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70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71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72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73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75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5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6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7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88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89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0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1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2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203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04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06" name="Body Level One…"/>
          <p:cNvSpPr txBox="1"/>
          <p:nvPr>
            <p:ph type="body" idx="1"/>
          </p:nvPr>
        </p:nvSpPr>
        <p:spPr>
          <a:xfrm rot="5400000">
            <a:off x="3851275" y="-1325562"/>
            <a:ext cx="4489450" cy="10515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6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7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8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219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20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5" name="Google Shape;15;p10"/>
          <p:cNvSpPr/>
          <p:nvPr/>
        </p:nvSpPr>
        <p:spPr>
          <a:xfrm>
            <a:off x="838200" y="1508125"/>
            <a:ext cx="838200" cy="179388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" name="Google Shape;18;p10"/>
          <p:cNvSpPr txBox="1"/>
          <p:nvPr/>
        </p:nvSpPr>
        <p:spPr>
          <a:xfrm>
            <a:off x="2162624" y="6356350"/>
            <a:ext cx="7425978" cy="42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7" name="Google Shape;19;p10"/>
          <p:cNvSpPr/>
          <p:nvPr/>
        </p:nvSpPr>
        <p:spPr>
          <a:xfrm>
            <a:off x="0" y="6395027"/>
            <a:ext cx="12192000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itle Text"/>
          <p:cNvSpPr txBox="1"/>
          <p:nvPr>
            <p:ph type="title"/>
          </p:nvPr>
        </p:nvSpPr>
        <p:spPr>
          <a:xfrm>
            <a:off x="838200" y="365125"/>
            <a:ext cx="10515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" name="Body Level One…"/>
          <p:cNvSpPr txBox="1"/>
          <p:nvPr>
            <p:ph type="body" idx="1"/>
          </p:nvPr>
        </p:nvSpPr>
        <p:spPr>
          <a:xfrm>
            <a:off x="838200" y="1687514"/>
            <a:ext cx="10515600" cy="4489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" name="Slide Number"/>
          <p:cNvSpPr txBox="1"/>
          <p:nvPr>
            <p:ph type="sldNum" sz="quarter" idx="2"/>
          </p:nvPr>
        </p:nvSpPr>
        <p:spPr>
          <a:xfrm>
            <a:off x="11089858" y="6404312"/>
            <a:ext cx="263942" cy="2692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970597" marR="0" indent="-393382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1504187" marR="0" indent="-464056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2011679" marR="0" indent="-512062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2467610" marR="0" indent="-50850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127;p1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</a:lvl1pPr>
          </a:lstStyle>
          <a:p>
            <a:pPr/>
            <a:r>
              <a:t>Topic: Clean Code Principles in Software Construction</a:t>
            </a:r>
          </a:p>
        </p:txBody>
      </p:sp>
      <p:sp>
        <p:nvSpPr>
          <p:cNvPr id="233" name="Google Shape;128;p1"/>
          <p:cNvSpPr/>
          <p:nvPr/>
        </p:nvSpPr>
        <p:spPr>
          <a:xfrm>
            <a:off x="1007534" y="5551742"/>
            <a:ext cx="3733801" cy="82038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lIns="0" tIns="0" rIns="0" bIns="0"/>
          <a:lstStyle/>
          <a:p>
            <a:pPr>
              <a:defRPr sz="1800"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34" name="Google Shape;129;p1"/>
          <p:cNvSpPr txBox="1"/>
          <p:nvPr/>
        </p:nvSpPr>
        <p:spPr>
          <a:xfrm>
            <a:off x="982726" y="5625507"/>
            <a:ext cx="3712884" cy="74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lnSpc>
                <a:spcPct val="90000"/>
              </a:lnSpc>
              <a:defRPr sz="20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Simon Fred Lubambo</a:t>
            </a:r>
            <a:endParaRPr i="1" sz="1200"/>
          </a:p>
          <a:p>
            <a:pPr>
              <a:lnSpc>
                <a:spcPct val="90000"/>
              </a:lnSpc>
              <a:defRPr b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Department of Computing &amp; Technology</a:t>
            </a:r>
          </a:p>
          <a:p>
            <a:pPr>
              <a:lnSpc>
                <a:spcPct val="90000"/>
              </a:lnSpc>
              <a:defRPr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Faculty of Engineering, Design &amp; Technology</a:t>
            </a:r>
          </a:p>
        </p:txBody>
      </p:sp>
      <p:sp>
        <p:nvSpPr>
          <p:cNvPr id="235" name="Google Shape;130;p1"/>
          <p:cNvSpPr/>
          <p:nvPr/>
        </p:nvSpPr>
        <p:spPr>
          <a:xfrm>
            <a:off x="0" y="2156859"/>
            <a:ext cx="12192001" cy="1325564"/>
          </a:xfrm>
          <a:prstGeom prst="rect">
            <a:avLst/>
          </a:prstGeom>
          <a:solidFill>
            <a:srgbClr val="0A3D91"/>
          </a:solidFill>
          <a:ln>
            <a:solidFill>
              <a:srgbClr val="0A3D91"/>
            </a:solidFill>
          </a:ln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defRPr sz="280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grpSp>
        <p:nvGrpSpPr>
          <p:cNvPr id="238" name="Google Shape;131;p1"/>
          <p:cNvGrpSpPr/>
          <p:nvPr/>
        </p:nvGrpSpPr>
        <p:grpSpPr>
          <a:xfrm>
            <a:off x="0" y="2181298"/>
            <a:ext cx="12192001" cy="889482"/>
            <a:chOff x="0" y="0"/>
            <a:chExt cx="12191999" cy="889480"/>
          </a:xfrm>
        </p:grpSpPr>
        <p:sp>
          <p:nvSpPr>
            <p:cNvPr id="236" name="Rectangle"/>
            <p:cNvSpPr/>
            <p:nvPr/>
          </p:nvSpPr>
          <p:spPr>
            <a:xfrm>
              <a:off x="-1" y="0"/>
              <a:ext cx="12192001" cy="889481"/>
            </a:xfrm>
            <a:prstGeom prst="rect">
              <a:avLst/>
            </a:prstGeom>
            <a:noFill/>
            <a:ln w="9525" cap="flat">
              <a:solidFill>
                <a:srgbClr val="0A3D9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7" name="SYE3209: Software Construction"/>
            <p:cNvSpPr txBox="1"/>
            <p:nvPr/>
          </p:nvSpPr>
          <p:spPr>
            <a:xfrm>
              <a:off x="50487" y="43440"/>
              <a:ext cx="12091025" cy="80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lnSpc>
                  <a:spcPct val="90000"/>
                </a:lnSpc>
                <a:defRPr sz="48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SYE3209: Software Construction</a:t>
              </a:r>
            </a:p>
          </p:txBody>
        </p:sp>
      </p:grpSp>
      <p:grpSp>
        <p:nvGrpSpPr>
          <p:cNvPr id="241" name="Google Shape;132;p1"/>
          <p:cNvGrpSpPr/>
          <p:nvPr/>
        </p:nvGrpSpPr>
        <p:grpSpPr>
          <a:xfrm>
            <a:off x="-3" y="2819880"/>
            <a:ext cx="12192001" cy="609121"/>
            <a:chOff x="0" y="0"/>
            <a:chExt cx="12191999" cy="609119"/>
          </a:xfrm>
        </p:grpSpPr>
        <p:sp>
          <p:nvSpPr>
            <p:cNvPr id="239" name="Rectangle"/>
            <p:cNvSpPr/>
            <p:nvPr/>
          </p:nvSpPr>
          <p:spPr>
            <a:xfrm>
              <a:off x="-1" y="0"/>
              <a:ext cx="12192001" cy="609120"/>
            </a:xfrm>
            <a:prstGeom prst="rect">
              <a:avLst/>
            </a:prstGeom>
            <a:noFill/>
            <a:ln w="9525" cap="flat">
              <a:solidFill>
                <a:srgbClr val="0A3D9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2800">
                  <a:solidFill>
                    <a:srgbClr val="FFFF00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40" name="Lecture 03 (BSCS II &amp; III)"/>
            <p:cNvSpPr txBox="1"/>
            <p:nvPr/>
          </p:nvSpPr>
          <p:spPr>
            <a:xfrm>
              <a:off x="50487" y="55659"/>
              <a:ext cx="12091025" cy="49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lnSpc>
                  <a:spcPct val="90000"/>
                </a:lnSpc>
                <a:defRPr sz="2800">
                  <a:solidFill>
                    <a:srgbClr val="FFFF00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Lecture 03 (BSCS II &amp; III)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144;p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Lecture Overview</a:t>
            </a:r>
          </a:p>
        </p:txBody>
      </p:sp>
      <p:grpSp>
        <p:nvGrpSpPr>
          <p:cNvPr id="260" name="Google Shape;145;p3"/>
          <p:cNvGrpSpPr/>
          <p:nvPr/>
        </p:nvGrpSpPr>
        <p:grpSpPr>
          <a:xfrm>
            <a:off x="1633420" y="1720276"/>
            <a:ext cx="7465435" cy="4742966"/>
            <a:chOff x="0" y="0"/>
            <a:chExt cx="7465433" cy="4742965"/>
          </a:xfrm>
        </p:grpSpPr>
        <p:sp>
          <p:nvSpPr>
            <p:cNvPr id="244" name="Google Shape;146;p3"/>
            <p:cNvSpPr/>
            <p:nvPr/>
          </p:nvSpPr>
          <p:spPr>
            <a:xfrm>
              <a:off x="0" y="0"/>
              <a:ext cx="979356" cy="4655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63" h="21600" fill="norm" stroke="1" extrusionOk="0">
                  <a:moveTo>
                    <a:pt x="254" y="0"/>
                  </a:moveTo>
                  <a:lnTo>
                    <a:pt x="254" y="0"/>
                  </a:lnTo>
                  <a:cubicBezTo>
                    <a:pt x="21600" y="5965"/>
                    <a:pt x="21600" y="15635"/>
                    <a:pt x="254" y="21600"/>
                  </a:cubicBezTo>
                  <a:lnTo>
                    <a:pt x="0" y="21529"/>
                  </a:lnTo>
                  <a:lnTo>
                    <a:pt x="0" y="21529"/>
                  </a:lnTo>
                  <a:cubicBezTo>
                    <a:pt x="21206" y="15604"/>
                    <a:pt x="21206" y="5996"/>
                    <a:pt x="0" y="71"/>
                  </a:cubicBezTo>
                  <a:close/>
                </a:path>
              </a:pathLst>
            </a:custGeom>
            <a:noFill/>
            <a:ln w="12700" cap="flat">
              <a:solidFill>
                <a:srgbClr val="7590A5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45" name="Google Shape;147;p3"/>
            <p:cNvSpPr/>
            <p:nvPr/>
          </p:nvSpPr>
          <p:spPr>
            <a:xfrm>
              <a:off x="386096" y="187960"/>
              <a:ext cx="707933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46" name="Google Shape;148;p3"/>
            <p:cNvSpPr txBox="1"/>
            <p:nvPr/>
          </p:nvSpPr>
          <p:spPr>
            <a:xfrm>
              <a:off x="787646" y="232094"/>
              <a:ext cx="6677788" cy="52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Introduction: Why Clean Code Matters</a:t>
              </a:r>
            </a:p>
          </p:txBody>
        </p:sp>
        <p:sp>
          <p:nvSpPr>
            <p:cNvPr id="247" name="Google Shape;149;p3"/>
            <p:cNvSpPr/>
            <p:nvPr/>
          </p:nvSpPr>
          <p:spPr>
            <a:xfrm>
              <a:off x="3929" y="111526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48" name="Google Shape;150;p3"/>
            <p:cNvSpPr/>
            <p:nvPr/>
          </p:nvSpPr>
          <p:spPr>
            <a:xfrm>
              <a:off x="824256" y="1104867"/>
              <a:ext cx="664117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49" name="Google Shape;151;p3"/>
            <p:cNvSpPr txBox="1"/>
            <p:nvPr/>
          </p:nvSpPr>
          <p:spPr>
            <a:xfrm>
              <a:off x="1225806" y="1149001"/>
              <a:ext cx="6239628" cy="52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What Is Clean Code?</a:t>
              </a:r>
            </a:p>
          </p:txBody>
        </p:sp>
        <p:sp>
          <p:nvSpPr>
            <p:cNvPr id="250" name="Google Shape;152;p3"/>
            <p:cNvSpPr/>
            <p:nvPr/>
          </p:nvSpPr>
          <p:spPr>
            <a:xfrm>
              <a:off x="442089" y="1028434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1" name="Google Shape;153;p3"/>
            <p:cNvSpPr/>
            <p:nvPr/>
          </p:nvSpPr>
          <p:spPr>
            <a:xfrm>
              <a:off x="958736" y="2021776"/>
              <a:ext cx="6506698" cy="611468"/>
            </a:xfrm>
            <a:prstGeom prst="rect">
              <a:avLst/>
            </a:prstGeom>
            <a:solidFill>
              <a:srgbClr val="0A3D91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2" name="Google Shape;154;p3"/>
            <p:cNvSpPr txBox="1"/>
            <p:nvPr/>
          </p:nvSpPr>
          <p:spPr>
            <a:xfrm>
              <a:off x="1360286" y="1905889"/>
              <a:ext cx="6105148" cy="84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Why Clean Code Is a Core Part of Software Construction</a:t>
              </a:r>
            </a:p>
          </p:txBody>
        </p:sp>
        <p:sp>
          <p:nvSpPr>
            <p:cNvPr id="253" name="Google Shape;155;p3"/>
            <p:cNvSpPr/>
            <p:nvPr/>
          </p:nvSpPr>
          <p:spPr>
            <a:xfrm>
              <a:off x="576569" y="1945342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4" name="Google Shape;156;p3"/>
            <p:cNvSpPr/>
            <p:nvPr/>
          </p:nvSpPr>
          <p:spPr>
            <a:xfrm>
              <a:off x="824256" y="2938683"/>
              <a:ext cx="664117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5" name="Google Shape;157;p3"/>
            <p:cNvSpPr txBox="1"/>
            <p:nvPr/>
          </p:nvSpPr>
          <p:spPr>
            <a:xfrm>
              <a:off x="1225806" y="2982817"/>
              <a:ext cx="6239628" cy="1300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/>
            <a:p>
              <a: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t>Industry Reality: Clean Code at Scale</a:t>
              </a:r>
            </a:p>
            <a:p>
              <a:pPr defTabSz="457200">
                <a:spcBef>
                  <a:spcPts val="1200"/>
                </a:spcBef>
                <a:defRPr sz="1200">
                  <a:latin typeface="Times Roman"/>
                  <a:ea typeface="Times Roman"/>
                  <a:cs typeface="Times Roman"/>
                  <a:sym typeface="Times Roman"/>
                </a:defRPr>
              </a:pPr>
            </a:p>
          </p:txBody>
        </p:sp>
        <p:sp>
          <p:nvSpPr>
            <p:cNvPr id="256" name="Google Shape;158;p3"/>
            <p:cNvSpPr/>
            <p:nvPr/>
          </p:nvSpPr>
          <p:spPr>
            <a:xfrm>
              <a:off x="442089" y="2862251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7" name="Google Shape;159;p3"/>
            <p:cNvSpPr/>
            <p:nvPr/>
          </p:nvSpPr>
          <p:spPr>
            <a:xfrm>
              <a:off x="386096" y="3855592"/>
              <a:ext cx="707933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8" name="Google Shape;160;p3"/>
            <p:cNvSpPr txBox="1"/>
            <p:nvPr/>
          </p:nvSpPr>
          <p:spPr>
            <a:xfrm>
              <a:off x="787646" y="3899725"/>
              <a:ext cx="6677788" cy="84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Readability: Code Is Written for Humans</a:t>
              </a:r>
            </a:p>
          </p:txBody>
        </p:sp>
        <p:sp>
          <p:nvSpPr>
            <p:cNvPr id="259" name="Google Shape;161;p3"/>
            <p:cNvSpPr/>
            <p:nvPr/>
          </p:nvSpPr>
          <p:spPr>
            <a:xfrm>
              <a:off x="3929" y="3779158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Introduction: Why Clean Code Matters</a:t>
            </a:r>
          </a:p>
        </p:txBody>
      </p:sp>
      <p:sp>
        <p:nvSpPr>
          <p:cNvPr id="263" name="Google Shape;139;p2"/>
          <p:cNvSpPr txBox="1"/>
          <p:nvPr>
            <p:ph type="body" idx="1"/>
          </p:nvPr>
        </p:nvSpPr>
        <p:spPr>
          <a:xfrm>
            <a:off x="838200" y="1922880"/>
            <a:ext cx="10515600" cy="44894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In professional software development, </a:t>
            </a:r>
            <a:r>
              <a:rPr b="1"/>
              <a:t>code is read far more often than it is written</a:t>
            </a:r>
            <a:r>
              <a:t>. While a programmer may write a piece of code once, that same code may be read, reviewed, debugged, extended, or refactored </a:t>
            </a:r>
            <a:r>
              <a:rPr b="1"/>
              <a:t>hundreds of times</a:t>
            </a:r>
            <a:r>
              <a:t> by different people over several years.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Clean code is therefore not a matter of personal style; it is a </a:t>
            </a:r>
            <a:r>
              <a:rPr b="1"/>
              <a:t>professional responsibility</a:t>
            </a:r>
            <a:r>
              <a:t>. </a:t>
            </a:r>
          </a:p>
          <a:p>
            <a:pPr marL="228600" indent="-228600"/>
          </a:p>
        </p:txBody>
      </p:sp>
      <p:sp>
        <p:nvSpPr>
          <p:cNvPr id="264" name="“Any fool can write code that a computer can understand.…"/>
          <p:cNvSpPr txBox="1"/>
          <p:nvPr/>
        </p:nvSpPr>
        <p:spPr>
          <a:xfrm>
            <a:off x="6791697" y="5452720"/>
            <a:ext cx="3719935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“Any fool can write code that a computer can understand.</a:t>
            </a:r>
          </a:p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Good programmers write code that humans can understand.”</a:t>
            </a:r>
          </a:p>
          <a:p>
            <a:pPr defTabSz="457200">
              <a:defRPr i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— </a:t>
            </a:r>
            <a:r>
              <a:t>Martin Fowler.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What Is Clean Code?</a:t>
            </a:r>
          </a:p>
        </p:txBody>
      </p:sp>
      <p:sp>
        <p:nvSpPr>
          <p:cNvPr id="267" name="Google Shape;139;p2"/>
          <p:cNvSpPr txBox="1"/>
          <p:nvPr>
            <p:ph type="body" idx="1"/>
          </p:nvPr>
        </p:nvSpPr>
        <p:spPr>
          <a:xfrm>
            <a:off x="838200" y="1998198"/>
            <a:ext cx="10515600" cy="44894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rPr b="1"/>
              <a:t>Clean code</a:t>
            </a:r>
            <a:r>
              <a:t> refers to source code that is: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rPr b="1"/>
              <a:t>Easy to read</a:t>
            </a:r>
            <a:endParaRPr b="1"/>
          </a:p>
          <a:p>
            <a:pPr lvl="1" marL="805815" indent="-228600"/>
            <a:r>
              <a:rPr b="1"/>
              <a:t> Easy to understand</a:t>
            </a:r>
            <a:endParaRPr b="1"/>
          </a:p>
          <a:p>
            <a:pPr lvl="1" marL="805815" indent="-228600"/>
            <a:r>
              <a:rPr b="1"/>
              <a:t> Easy to modify</a:t>
            </a:r>
            <a:endParaRPr b="1"/>
          </a:p>
          <a:p>
            <a:pPr lvl="1" marL="805815" indent="-228600"/>
            <a:r>
              <a:rPr b="1"/>
              <a:t> Easy to test</a:t>
            </a:r>
            <a:endParaRPr b="1"/>
          </a:p>
          <a:p>
            <a:pPr lvl="1" marL="805815" indent="-228600"/>
            <a:r>
              <a:rPr b="1"/>
              <a:t> Easy to maintain over time</a:t>
            </a:r>
          </a:p>
        </p:txBody>
      </p:sp>
      <p:sp>
        <p:nvSpPr>
          <p:cNvPr id="268" name="Clean code communicates intent clearly, minimizes surprises, and reduces the cognitive effort required to…"/>
          <p:cNvSpPr txBox="1"/>
          <p:nvPr/>
        </p:nvSpPr>
        <p:spPr>
          <a:xfrm>
            <a:off x="1084652" y="5213619"/>
            <a:ext cx="98099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Clean code communicates </a:t>
            </a:r>
            <a:r>
              <a:rPr b="1"/>
              <a:t>intent clearly</a:t>
            </a:r>
            <a:r>
              <a:t>, minimizes surprises, and reduces the cognitive effort required to </a:t>
            </a:r>
          </a:p>
          <a:p>
            <a:pPr defTabSz="457200"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understand how a system works.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138;p2"/>
          <p:cNvSpPr txBox="1"/>
          <p:nvPr>
            <p:ph type="title"/>
          </p:nvPr>
        </p:nvSpPr>
        <p:spPr>
          <a:xfrm>
            <a:off x="617813" y="572248"/>
            <a:ext cx="10515601" cy="1143001"/>
          </a:xfrm>
          <a:prstGeom prst="rect">
            <a:avLst/>
          </a:prstGeom>
        </p:spPr>
        <p:txBody>
          <a:bodyPr/>
          <a:lstStyle>
            <a:lvl1pPr defTabSz="649223">
              <a:defRPr sz="3266"/>
            </a:lvl1pPr>
          </a:lstStyle>
          <a:p>
            <a:pPr/>
            <a:r>
              <a:t>Why Clean Code Is a Core Part of Software Construction</a:t>
            </a:r>
          </a:p>
        </p:txBody>
      </p:sp>
      <p:sp>
        <p:nvSpPr>
          <p:cNvPr id="271" name="Google Shape;139;p2"/>
          <p:cNvSpPr txBox="1"/>
          <p:nvPr>
            <p:ph type="body" idx="1"/>
          </p:nvPr>
        </p:nvSpPr>
        <p:spPr>
          <a:xfrm>
            <a:off x="376881" y="2118556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Clean code is central to software construction because software systems: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built by </a:t>
            </a:r>
            <a:r>
              <a:rPr b="1"/>
              <a:t>teams</a:t>
            </a:r>
            <a:r>
              <a:t>, not individuals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Evolve continuously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Must be maintained long after the original developers leave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often business-critical</a:t>
            </a:r>
          </a:p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In poorly constructed systems: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Small changes cause unexpected failures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Developers fear touching existing code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Bugs increase as the system grows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Technical debt accumulates rapidly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Industry Reality: Clean Code at Scale</a:t>
            </a:r>
          </a:p>
        </p:txBody>
      </p:sp>
      <p:sp>
        <p:nvSpPr>
          <p:cNvPr id="274" name="Google Shape;139;p2"/>
          <p:cNvSpPr txBox="1"/>
          <p:nvPr>
            <p:ph type="body" sz="half" idx="1"/>
          </p:nvPr>
        </p:nvSpPr>
        <p:spPr>
          <a:xfrm>
            <a:off x="617813" y="2210873"/>
            <a:ext cx="10515601" cy="2162335"/>
          </a:xfrm>
          <a:prstGeom prst="rect">
            <a:avLst/>
          </a:prstGeom>
        </p:spPr>
        <p:txBody>
          <a:bodyPr/>
          <a:lstStyle/>
          <a:p>
            <a:pPr marL="0" indent="0" defTabSz="640079">
              <a:spcBef>
                <a:spcPts val="0"/>
              </a:spcBef>
              <a:buSzTx/>
              <a:buNone/>
              <a:defRPr sz="1960"/>
            </a:pPr>
            <a:r>
              <a:t>Google maintains </a:t>
            </a:r>
            <a:r>
              <a:rPr b="1"/>
              <a:t>billions of lines of code</a:t>
            </a:r>
            <a:r>
              <a:t> across thousands of repositories. Engineers are often required to modify code written by someone they have never met.</a:t>
            </a:r>
          </a:p>
          <a:p>
            <a:pPr marL="0" indent="0" defTabSz="640079">
              <a:spcBef>
                <a:spcPts val="0"/>
              </a:spcBef>
              <a:buSzTx/>
              <a:buNone/>
              <a:defRPr sz="1960"/>
            </a:pPr>
          </a:p>
          <a:p>
            <a:pPr marL="0" indent="0" defTabSz="640079">
              <a:spcBef>
                <a:spcPts val="0"/>
              </a:spcBef>
              <a:buSzTx/>
              <a:buNone/>
              <a:defRPr sz="1960"/>
            </a:pPr>
            <a:r>
              <a:t>To manage this: </a:t>
            </a:r>
            <a:endParaRPr sz="1679"/>
          </a:p>
          <a:p>
            <a:pPr lvl="1" marL="541210" indent="-137159" defTabSz="640079">
              <a:spcBef>
                <a:spcPts val="700"/>
              </a:spcBef>
              <a:buSzPts val="1600"/>
              <a:defRPr sz="1960"/>
            </a:pPr>
            <a:r>
              <a:rPr sz="1679"/>
              <a:t> </a:t>
            </a:r>
            <a:r>
              <a:t>Code readability is enforced as a policy</a:t>
            </a:r>
          </a:p>
          <a:p>
            <a:pPr lvl="1" marL="564070" indent="-160019" defTabSz="640079">
              <a:spcBef>
                <a:spcPts val="700"/>
              </a:spcBef>
              <a:buSzPts val="1900"/>
              <a:defRPr sz="1960"/>
            </a:pPr>
            <a:r>
              <a:t> Code reviews are mandatory</a:t>
            </a:r>
          </a:p>
          <a:p>
            <a:pPr lvl="1" marL="564070" indent="-160019" defTabSz="640079">
              <a:spcBef>
                <a:spcPts val="700"/>
              </a:spcBef>
              <a:buSzPts val="1900"/>
              <a:defRPr sz="1960"/>
            </a:pPr>
            <a:r>
              <a:t> Naming, structure, and clarity are prioritized over cleverness</a:t>
            </a:r>
          </a:p>
        </p:txBody>
      </p:sp>
      <p:sp>
        <p:nvSpPr>
          <p:cNvPr id="275" name="At Google, a change may be rejected not because it is incorrect, but because it is hard to read or understand."/>
          <p:cNvSpPr txBox="1"/>
          <p:nvPr/>
        </p:nvSpPr>
        <p:spPr>
          <a:xfrm>
            <a:off x="610930" y="4747036"/>
            <a:ext cx="10291664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 Google, a change may be rejected </a:t>
            </a:r>
            <a:r>
              <a:rPr b="1"/>
              <a:t>not because it is incorrect</a:t>
            </a:r>
            <a:r>
              <a:t>, but because it is </a:t>
            </a:r>
            <a:r>
              <a:rPr b="1"/>
              <a:t>hard to read or understand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Industry Reality: Clean Code at Scale</a:t>
            </a:r>
          </a:p>
        </p:txBody>
      </p:sp>
      <p:sp>
        <p:nvSpPr>
          <p:cNvPr id="278" name="Google Shape;139;p2"/>
          <p:cNvSpPr txBox="1"/>
          <p:nvPr>
            <p:ph type="body" sz="half" idx="1"/>
          </p:nvPr>
        </p:nvSpPr>
        <p:spPr>
          <a:xfrm>
            <a:off x="617813" y="2210873"/>
            <a:ext cx="10515601" cy="2162335"/>
          </a:xfrm>
          <a:prstGeom prst="rect">
            <a:avLst/>
          </a:prstGeom>
        </p:spPr>
        <p:txBody>
          <a:bodyPr/>
          <a:lstStyle/>
          <a:p>
            <a:pPr marL="0" indent="0" defTabSz="640079">
              <a:spcBef>
                <a:spcPts val="0"/>
              </a:spcBef>
              <a:buSzTx/>
              <a:buNone/>
              <a:defRPr sz="1960"/>
            </a:pPr>
            <a:r>
              <a:t>Microsoft’s long-lived products (e.g., operating systems, enterprise platforms) must remain maintainable for </a:t>
            </a:r>
            <a:r>
              <a:rPr b="1"/>
              <a:t>decades</a:t>
            </a:r>
            <a:r>
              <a:t>.</a:t>
            </a:r>
          </a:p>
          <a:p>
            <a:pPr marL="0" indent="0" defTabSz="640079">
              <a:spcBef>
                <a:spcPts val="0"/>
              </a:spcBef>
              <a:buSzTx/>
              <a:buNone/>
              <a:defRPr sz="1960"/>
            </a:pPr>
          </a:p>
          <a:p>
            <a:pPr marL="0" indent="0" defTabSz="640079">
              <a:spcBef>
                <a:spcPts val="0"/>
              </a:spcBef>
              <a:buSzTx/>
              <a:buNone/>
              <a:defRPr sz="1960"/>
            </a:pPr>
            <a:r>
              <a:t>Clean code enables: </a:t>
            </a:r>
            <a:endParaRPr sz="1679"/>
          </a:p>
          <a:p>
            <a:pPr lvl="1" marL="541210" indent="-137159" defTabSz="640079">
              <a:spcBef>
                <a:spcPts val="700"/>
              </a:spcBef>
              <a:buSzPts val="1600"/>
              <a:defRPr sz="1960"/>
            </a:pPr>
            <a:r>
              <a:rPr sz="1679"/>
              <a:t> </a:t>
            </a:r>
            <a:r>
              <a:t>New engineers to onboard quickly</a:t>
            </a:r>
          </a:p>
          <a:p>
            <a:pPr lvl="1" marL="564070" indent="-160019" defTabSz="640079">
              <a:spcBef>
                <a:spcPts val="700"/>
              </a:spcBef>
              <a:buSzPts val="1900"/>
              <a:defRPr sz="1960"/>
            </a:pPr>
            <a:r>
              <a:t> Legacy systems to evolve</a:t>
            </a:r>
          </a:p>
          <a:p>
            <a:pPr lvl="1" marL="564070" indent="-160019" defTabSz="640079">
              <a:spcBef>
                <a:spcPts val="700"/>
              </a:spcBef>
              <a:buSzPts val="1900"/>
              <a:defRPr sz="1960"/>
            </a:pPr>
            <a:r>
              <a:t> Bugs to be fixed safely without introducing new ones</a:t>
            </a:r>
          </a:p>
        </p:txBody>
      </p:sp>
      <p:sp>
        <p:nvSpPr>
          <p:cNvPr id="279" name="Many system failures historically traced back to poorly structured, tightly coupled code, not lack of technical skill."/>
          <p:cNvSpPr txBox="1"/>
          <p:nvPr/>
        </p:nvSpPr>
        <p:spPr>
          <a:xfrm>
            <a:off x="610930" y="4747036"/>
            <a:ext cx="1073156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Many system failures historically traced back to </a:t>
            </a:r>
            <a:r>
              <a:rPr b="1"/>
              <a:t>poorly structured, tightly coupled code</a:t>
            </a:r>
            <a:r>
              <a:t>, not lack of technical skill.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05255">
              <a:defRPr sz="4554"/>
            </a:lvl1pPr>
          </a:lstStyle>
          <a:p>
            <a:pPr/>
            <a:r>
              <a:t>Readability: Code Is Written for Humans</a:t>
            </a:r>
          </a:p>
        </p:txBody>
      </p:sp>
      <p:sp>
        <p:nvSpPr>
          <p:cNvPr id="282" name="Google Shape;139;p2"/>
          <p:cNvSpPr txBox="1"/>
          <p:nvPr>
            <p:ph type="body" idx="1"/>
          </p:nvPr>
        </p:nvSpPr>
        <p:spPr>
          <a:xfrm>
            <a:off x="376881" y="2127971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342900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650"/>
            </a:pPr>
            <a:r>
              <a:t>Readable code: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Uses meaningful names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Has a clear structure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Avoids unnecessary complexity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Expresses intent directly</a:t>
            </a:r>
          </a:p>
          <a:p>
            <a:pPr marL="0" indent="0" defTabSz="342900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650"/>
            </a:pPr>
            <a:r>
              <a:t>Unreadable code: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Requires constant comments to explain it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Relies on mental decoding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Slows down development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Increases error rates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</a:p>
        </p:txBody>
      </p:sp>
      <p:pic>
        <p:nvPicPr>
          <p:cNvPr id="28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46625" y="1714790"/>
            <a:ext cx="2956599" cy="44348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Example</a:t>
            </a:r>
          </a:p>
        </p:txBody>
      </p:sp>
      <p:sp>
        <p:nvSpPr>
          <p:cNvPr id="286" name="Google Shape;139;p2"/>
          <p:cNvSpPr txBox="1"/>
          <p:nvPr>
            <p:ph type="body" idx="1"/>
          </p:nvPr>
        </p:nvSpPr>
        <p:spPr>
          <a:xfrm>
            <a:off x="376881" y="2127971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Poor readability: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Single-letter variables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Long, nested logic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No clear separation of responsibilities</a:t>
            </a:r>
          </a:p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High readability: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Descriptive names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Small, focused functions 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Logical flow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Minimal mental overhead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</a:p>
        </p:txBody>
      </p:sp>
      <p:pic>
        <p:nvPicPr>
          <p:cNvPr id="28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68966" y="1924669"/>
            <a:ext cx="5396621" cy="4047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49808">
              <a:defRPr sz="3772"/>
            </a:lvl1pPr>
          </a:lstStyle>
          <a:p>
            <a:pPr/>
            <a:r>
              <a:t>Naming: One of the Hardest Problems in Software</a:t>
            </a:r>
          </a:p>
        </p:txBody>
      </p:sp>
      <p:sp>
        <p:nvSpPr>
          <p:cNvPr id="290" name="Google Shape;139;p2"/>
          <p:cNvSpPr txBox="1"/>
          <p:nvPr>
            <p:ph type="body" idx="1"/>
          </p:nvPr>
        </p:nvSpPr>
        <p:spPr>
          <a:xfrm>
            <a:off x="376881" y="2127971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Good names: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Reveal intent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Reduce the need for comments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Make code self-documenting</a:t>
            </a:r>
          </a:p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Bad names: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Hide meaning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Increase misunderstanding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Cause bugs during maintenance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Real-World Example</a:t>
            </a:r>
          </a:p>
        </p:txBody>
      </p:sp>
      <p:sp>
        <p:nvSpPr>
          <p:cNvPr id="293" name="Google Shape;139;p2"/>
          <p:cNvSpPr txBox="1"/>
          <p:nvPr>
            <p:ph type="body" idx="1"/>
          </p:nvPr>
        </p:nvSpPr>
        <p:spPr>
          <a:xfrm>
            <a:off x="376881" y="2459753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200"/>
            </a:pPr>
            <a:r>
              <a:t>Consider a variable named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t>.</a:t>
            </a:r>
          </a:p>
          <a:p>
            <a:pPr marL="368300" indent="-228600" defTabSz="457200">
              <a:lnSpc>
                <a:spcPct val="100000"/>
              </a:lnSpc>
              <a:spcBef>
                <a:spcPts val="1200"/>
              </a:spcBef>
              <a:buClrTx/>
              <a:buSzPct val="80000"/>
              <a:buFont typeface="Times Roman"/>
              <a:buBlip>
                <a:blip r:embed="rId2"/>
              </a:buBlip>
              <a:defRPr sz="2200"/>
            </a:pPr>
            <a:r>
              <a:t> What does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t> represent?</a:t>
            </a:r>
          </a:p>
          <a:p>
            <a:pPr marL="368300" indent="-228600" defTabSz="457200">
              <a:lnSpc>
                <a:spcPct val="100000"/>
              </a:lnSpc>
              <a:spcBef>
                <a:spcPts val="1200"/>
              </a:spcBef>
              <a:buClrTx/>
              <a:buSzPct val="80000"/>
              <a:buFont typeface="Times Roman"/>
              <a:buBlip>
                <a:blip r:embed="rId2"/>
              </a:buBlip>
              <a:defRPr sz="2200"/>
            </a:pPr>
            <a:r>
              <a:t> Why does it exist?</a:t>
            </a:r>
          </a:p>
          <a:p>
            <a:pPr marL="368300" indent="-228600" defTabSz="457200">
              <a:lnSpc>
                <a:spcPct val="100000"/>
              </a:lnSpc>
              <a:spcBef>
                <a:spcPts val="1200"/>
              </a:spcBef>
              <a:buClrTx/>
              <a:buSzPct val="80000"/>
              <a:buFont typeface="Times Roman"/>
              <a:buBlip>
                <a:blip r:embed="rId2"/>
              </a:buBlip>
              <a:defRPr sz="2200"/>
            </a:pPr>
            <a:r>
              <a:t> What unit or meaning does it carry?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200"/>
            </a:pPr>
            <a:r>
              <a:t>A descriptive name (e.g.,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totalInvoiceAmount</a:t>
            </a:r>
            <a:r>
              <a:t>) removes ambiguity and reduces errors.</a:t>
            </a:r>
          </a:p>
          <a:p>
            <a:pPr marL="368300" indent="-228600" defTabSz="45720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2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Functions Should Do One Thing</a:t>
            </a:r>
          </a:p>
        </p:txBody>
      </p:sp>
      <p:sp>
        <p:nvSpPr>
          <p:cNvPr id="296" name="Google Shape;139;p2"/>
          <p:cNvSpPr txBox="1"/>
          <p:nvPr>
            <p:ph type="body" idx="1"/>
          </p:nvPr>
        </p:nvSpPr>
        <p:spPr>
          <a:xfrm>
            <a:off x="376881" y="1980953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Functions that do many things: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harder to test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harder to reuse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harder to debug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more likely to break during changes</a:t>
            </a:r>
          </a:p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In contrast, small, focused functions: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Are easier to reason about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Encourage reuse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Support testing 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Improve maintainability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Code Smells: Warning Signs in Software</a:t>
            </a:r>
          </a:p>
        </p:txBody>
      </p:sp>
      <p:sp>
        <p:nvSpPr>
          <p:cNvPr id="299" name="Google Shape;139;p2"/>
          <p:cNvSpPr txBox="1"/>
          <p:nvPr>
            <p:ph type="body" idx="1"/>
          </p:nvPr>
        </p:nvSpPr>
        <p:spPr>
          <a:xfrm>
            <a:off x="617813" y="2023133"/>
            <a:ext cx="10515601" cy="4029924"/>
          </a:xfrm>
          <a:prstGeom prst="rect">
            <a:avLst/>
          </a:prstGeom>
        </p:spPr>
        <p:txBody>
          <a:bodyPr/>
          <a:lstStyle/>
          <a:p>
            <a:pPr marL="0" indent="0" defTabSz="676655">
              <a:spcBef>
                <a:spcPts val="0"/>
              </a:spcBef>
              <a:buSzTx/>
              <a:buNone/>
              <a:defRPr sz="2072"/>
            </a:pPr>
            <a:r>
              <a:t>A </a:t>
            </a:r>
            <a:r>
              <a:rPr b="1"/>
              <a:t>code smell</a:t>
            </a:r>
            <a:r>
              <a:t> is an indication that something may be wrong with the structure or design of the code. </a:t>
            </a:r>
          </a:p>
          <a:p>
            <a:pPr marL="0" indent="0" defTabSz="676655">
              <a:spcBef>
                <a:spcPts val="0"/>
              </a:spcBef>
              <a:buSzTx/>
              <a:buNone/>
              <a:defRPr sz="2072"/>
            </a:pPr>
          </a:p>
          <a:p>
            <a:pPr marL="0" indent="0" defTabSz="338327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072"/>
            </a:pPr>
            <a:r>
              <a:t>Code smells are not necessarily bugs, but they </a:t>
            </a:r>
            <a:r>
              <a:rPr b="1"/>
              <a:t>increase the risk of bugs</a:t>
            </a:r>
            <a:r>
              <a:t>.</a:t>
            </a:r>
          </a:p>
          <a:p>
            <a:pPr marL="0" indent="0" defTabSz="676655">
              <a:spcBef>
                <a:spcPts val="0"/>
              </a:spcBef>
              <a:buSzTx/>
              <a:buNone/>
              <a:defRPr sz="2072"/>
            </a:pPr>
          </a:p>
          <a:p>
            <a:pPr marL="0" indent="0" defTabSz="676655">
              <a:spcBef>
                <a:spcPts val="0"/>
              </a:spcBef>
              <a:buSzTx/>
              <a:buNone/>
              <a:defRPr sz="2072"/>
            </a:pPr>
            <a:r>
              <a:t>Common Code Smells: </a:t>
            </a:r>
            <a:endParaRPr sz="1776"/>
          </a:p>
          <a:p>
            <a:pPr lvl="1" marL="572136" indent="-144997" defTabSz="676655">
              <a:spcBef>
                <a:spcPts val="700"/>
              </a:spcBef>
              <a:buSzPts val="1700"/>
              <a:defRPr sz="2072"/>
            </a:pPr>
            <a:r>
              <a:rPr sz="1776"/>
              <a:t> </a:t>
            </a:r>
            <a:r>
              <a:t>Very long functions or methods</a:t>
            </a:r>
          </a:p>
          <a:p>
            <a:pPr lvl="1" marL="596303" indent="-169163" defTabSz="676655">
              <a:spcBef>
                <a:spcPts val="700"/>
              </a:spcBef>
              <a:buSzPts val="2000"/>
              <a:defRPr sz="2072"/>
            </a:pPr>
            <a:r>
              <a:t> Classes with too many responsibilities</a:t>
            </a:r>
          </a:p>
          <a:p>
            <a:pPr lvl="1" marL="596303" indent="-169163" defTabSz="676655">
              <a:spcBef>
                <a:spcPts val="700"/>
              </a:spcBef>
              <a:buSzPts val="2000"/>
              <a:defRPr sz="2072"/>
            </a:pPr>
            <a:r>
              <a:t> Repeated code (duplication)</a:t>
            </a:r>
          </a:p>
          <a:p>
            <a:pPr lvl="1" marL="596303" indent="-169163" defTabSz="676655">
              <a:spcBef>
                <a:spcPts val="700"/>
              </a:spcBef>
              <a:buSzPts val="2000"/>
              <a:defRPr sz="2072"/>
            </a:pPr>
            <a:r>
              <a:t> Excessive use of comments to explain logic</a:t>
            </a:r>
          </a:p>
          <a:p>
            <a:pPr lvl="1" marL="596303" indent="-169163" defTabSz="676655">
              <a:spcBef>
                <a:spcPts val="700"/>
              </a:spcBef>
              <a:buSzPts val="2000"/>
              <a:defRPr sz="2072"/>
            </a:pPr>
            <a:r>
              <a:t> Deeply nested conditionals</a:t>
            </a:r>
          </a:p>
          <a:p>
            <a:pPr lvl="1" marL="596303" indent="-169163" defTabSz="676655">
              <a:spcBef>
                <a:spcPts val="700"/>
              </a:spcBef>
              <a:buSzPts val="2000"/>
              <a:defRPr sz="2072"/>
            </a:pPr>
            <a:r>
              <a:t> Hard-coded values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Industry Insight</a:t>
            </a:r>
          </a:p>
        </p:txBody>
      </p:sp>
      <p:sp>
        <p:nvSpPr>
          <p:cNvPr id="302" name="Google Shape;139;p2"/>
          <p:cNvSpPr txBox="1"/>
          <p:nvPr>
            <p:ph type="body" idx="1"/>
          </p:nvPr>
        </p:nvSpPr>
        <p:spPr>
          <a:xfrm>
            <a:off x="617812" y="2296166"/>
            <a:ext cx="10515601" cy="4029925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Large companies invest heavily in: 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t>Static analysis tools</a:t>
            </a:r>
          </a:p>
          <a:p>
            <a:pPr lvl="1" marL="805815" indent="-228600"/>
            <a:r>
              <a:t> Code review processes</a:t>
            </a:r>
          </a:p>
          <a:p>
            <a:pPr lvl="1" marL="805815" indent="-228600"/>
            <a:r>
              <a:t> Automated checks</a:t>
            </a:r>
          </a:p>
        </p:txBody>
      </p:sp>
      <p:sp>
        <p:nvSpPr>
          <p:cNvPr id="303" name="These are not to punish developers, but to detect code smells early,…"/>
          <p:cNvSpPr txBox="1"/>
          <p:nvPr/>
        </p:nvSpPr>
        <p:spPr>
          <a:xfrm>
            <a:off x="649899" y="4484740"/>
            <a:ext cx="962759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24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These are not to punish developers, but to </a:t>
            </a:r>
            <a:r>
              <a:rPr b="1"/>
              <a:t>detect code smells early</a:t>
            </a:r>
            <a:r>
              <a:t>, </a:t>
            </a:r>
          </a:p>
          <a:p>
            <a:pPr defTabSz="457200">
              <a:defRPr sz="24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before they grow into major maintenance problems.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Comments vs Self-Documenting Code</a:t>
            </a:r>
          </a:p>
        </p:txBody>
      </p:sp>
      <p:sp>
        <p:nvSpPr>
          <p:cNvPr id="306" name="Google Shape;139;p2"/>
          <p:cNvSpPr txBox="1"/>
          <p:nvPr>
            <p:ph type="body" idx="1"/>
          </p:nvPr>
        </p:nvSpPr>
        <p:spPr>
          <a:xfrm>
            <a:off x="617812" y="2296166"/>
            <a:ext cx="10515601" cy="4029925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Comments are useful when: 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t>Explaining </a:t>
            </a:r>
            <a:r>
              <a:rPr i="1"/>
              <a:t>why</a:t>
            </a:r>
            <a:r>
              <a:t> a decision was made</a:t>
            </a:r>
          </a:p>
          <a:p>
            <a:pPr lvl="1" marL="805815" indent="-228600"/>
            <a:r>
              <a:t> Clarifying non-obvious business rules</a:t>
            </a:r>
          </a:p>
          <a:p>
            <a:pPr lvl="1" marL="805815" indent="-228600"/>
            <a:r>
              <a:t> Documenting public interfaces</a:t>
            </a:r>
          </a:p>
        </p:txBody>
      </p:sp>
      <p:sp>
        <p:nvSpPr>
          <p:cNvPr id="307" name="Comments are not a substitute for poor code.."/>
          <p:cNvSpPr txBox="1"/>
          <p:nvPr/>
        </p:nvSpPr>
        <p:spPr>
          <a:xfrm>
            <a:off x="649899" y="4484740"/>
            <a:ext cx="6390135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Comments are not a substitute for poor code..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Clean Code Philosophy</a:t>
            </a:r>
          </a:p>
        </p:txBody>
      </p:sp>
      <p:sp>
        <p:nvSpPr>
          <p:cNvPr id="310" name="Google Shape;139;p2"/>
          <p:cNvSpPr txBox="1"/>
          <p:nvPr>
            <p:ph type="body" idx="1"/>
          </p:nvPr>
        </p:nvSpPr>
        <p:spPr>
          <a:xfrm>
            <a:off x="617813" y="2023133"/>
            <a:ext cx="10515601" cy="4029924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If code requires extensive comments to explain </a:t>
            </a:r>
            <a:r>
              <a:rPr b="1"/>
              <a:t>what it does</a:t>
            </a:r>
            <a:r>
              <a:t>, the code itself likely needs improvement.</a:t>
            </a:r>
          </a:p>
          <a:p>
            <a:pPr marL="0" indent="0">
              <a:spcBef>
                <a:spcPts val="0"/>
              </a:spcBef>
              <a:buSzTx/>
              <a:buNone/>
            </a:pPr>
          </a:p>
          <a:p>
            <a:pPr marL="0" indent="0">
              <a:spcBef>
                <a:spcPts val="0"/>
              </a:spcBef>
              <a:buSzTx/>
              <a:buNone/>
            </a:pPr>
            <a:r>
              <a:t>Good code: 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t>Explains itself through structure and naming</a:t>
            </a:r>
          </a:p>
          <a:p>
            <a:pPr lvl="1" marL="805815" indent="-228600"/>
            <a:r>
              <a:t> Uses comments sparingly and purposefully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Clean Code and Maintainability</a:t>
            </a:r>
          </a:p>
        </p:txBody>
      </p:sp>
      <p:sp>
        <p:nvSpPr>
          <p:cNvPr id="313" name="Google Shape;139;p2"/>
          <p:cNvSpPr txBox="1"/>
          <p:nvPr>
            <p:ph type="body" idx="1"/>
          </p:nvPr>
        </p:nvSpPr>
        <p:spPr>
          <a:xfrm>
            <a:off x="376881" y="1980953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452627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178"/>
            </a:pPr>
            <a:r>
              <a:t>Maintainable software is software that:</a:t>
            </a:r>
          </a:p>
          <a:p>
            <a:pPr marL="364617" indent="-226313" defTabSz="452627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178"/>
            </a:pPr>
            <a:r>
              <a:t> New developers can quickly understand</a:t>
            </a:r>
          </a:p>
          <a:p>
            <a:pPr marL="364617" indent="-226313" defTabSz="452627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178"/>
            </a:pPr>
            <a:r>
              <a:t> Can be modified without fear</a:t>
            </a:r>
          </a:p>
          <a:p>
            <a:pPr marL="364617" indent="-226313" defTabSz="452627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178"/>
            </a:pPr>
            <a:r>
              <a:t> Supports new requirements with minimal disruption</a:t>
            </a:r>
          </a:p>
          <a:p>
            <a:pPr marL="0" indent="0" defTabSz="452627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178"/>
            </a:pPr>
            <a:r>
              <a:t>Clean code directly supports maintainability by:</a:t>
            </a:r>
          </a:p>
          <a:p>
            <a:pPr marL="364617" indent="-226313" defTabSz="452627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178"/>
            </a:pPr>
            <a:r>
              <a:t> Reducing cognitive load</a:t>
            </a:r>
          </a:p>
          <a:p>
            <a:pPr marL="364617" indent="-226313" defTabSz="452627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178"/>
            </a:pPr>
            <a:r>
              <a:t> Localizing changes</a:t>
            </a:r>
          </a:p>
          <a:p>
            <a:pPr marL="364617" indent="-226313" defTabSz="452627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178"/>
            </a:pPr>
            <a:r>
              <a:t> Minimizing side effects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Real-World Fact</a:t>
            </a:r>
          </a:p>
        </p:txBody>
      </p:sp>
      <p:sp>
        <p:nvSpPr>
          <p:cNvPr id="316" name="Google Shape;139;p2"/>
          <p:cNvSpPr txBox="1"/>
          <p:nvPr>
            <p:ph type="body" sz="half" idx="1"/>
          </p:nvPr>
        </p:nvSpPr>
        <p:spPr>
          <a:xfrm>
            <a:off x="376881" y="2658866"/>
            <a:ext cx="11438238" cy="2546744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Studies in software engineering consistently show that: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Poor code structure increases defect rates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Teams with clean code practices deliver features faster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Technical debt slows innovation and increases costs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Clean Code Is a Team Discipline</a:t>
            </a:r>
          </a:p>
        </p:txBody>
      </p:sp>
      <p:sp>
        <p:nvSpPr>
          <p:cNvPr id="319" name="Google Shape;139;p2"/>
          <p:cNvSpPr txBox="1"/>
          <p:nvPr>
            <p:ph type="body" idx="1"/>
          </p:nvPr>
        </p:nvSpPr>
        <p:spPr>
          <a:xfrm>
            <a:off x="376881" y="1980953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Clean code is not achieved by: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One brilliant developer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Writing clever code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Working alone</a:t>
            </a:r>
          </a:p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It is achieved through: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Shared standards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Code reviews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Continuous refactoring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Team agreement on quality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50391">
              <a:defRPr sz="4278"/>
            </a:lvl1pPr>
          </a:lstStyle>
          <a:p>
            <a:pPr/>
            <a:r>
              <a:t>Clean Code and Professional Responsibility</a:t>
            </a:r>
          </a:p>
        </p:txBody>
      </p:sp>
      <p:sp>
        <p:nvSpPr>
          <p:cNvPr id="322" name="Google Shape;139;p2"/>
          <p:cNvSpPr txBox="1"/>
          <p:nvPr>
            <p:ph type="body" idx="1"/>
          </p:nvPr>
        </p:nvSpPr>
        <p:spPr>
          <a:xfrm>
            <a:off x="617812" y="2296166"/>
            <a:ext cx="10515601" cy="4029925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As future software engineers, students must understand that: 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t>Other people will depend on their code</a:t>
            </a:r>
          </a:p>
          <a:p>
            <a:pPr lvl="1" marL="805815" indent="-228600"/>
            <a:r>
              <a:t> Poor code quality has real consequences</a:t>
            </a:r>
          </a:p>
          <a:p>
            <a:pPr lvl="1" marL="805815" indent="-228600"/>
            <a:r>
              <a:t> Software failures can affect businesses, institutions, and lives</a:t>
            </a:r>
          </a:p>
        </p:txBody>
      </p:sp>
      <p:sp>
        <p:nvSpPr>
          <p:cNvPr id="323" name="Writing clean code is part of ethical software construction."/>
          <p:cNvSpPr txBox="1"/>
          <p:nvPr/>
        </p:nvSpPr>
        <p:spPr>
          <a:xfrm>
            <a:off x="1067076" y="4881059"/>
            <a:ext cx="828709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24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Writing clean code is part of </a:t>
            </a:r>
            <a:r>
              <a:rPr b="1"/>
              <a:t>ethical software construction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Relationship to the Course</a:t>
            </a:r>
          </a:p>
        </p:txBody>
      </p:sp>
      <p:sp>
        <p:nvSpPr>
          <p:cNvPr id="326" name="Google Shape;139;p2"/>
          <p:cNvSpPr txBox="1"/>
          <p:nvPr>
            <p:ph type="body" idx="1"/>
          </p:nvPr>
        </p:nvSpPr>
        <p:spPr>
          <a:xfrm>
            <a:off x="617812" y="2296166"/>
            <a:ext cx="10515601" cy="4029925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This week’s concepts connect directly to: 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t>Refactoring (Week 8)</a:t>
            </a:r>
          </a:p>
          <a:p>
            <a:pPr lvl="1" marL="805815" indent="-228600"/>
            <a:r>
              <a:t> Testing (Week 7)</a:t>
            </a:r>
          </a:p>
          <a:p>
            <a:pPr lvl="1" marL="805815" indent="-228600"/>
            <a:r>
              <a:t> Modular design (Week 5)</a:t>
            </a:r>
          </a:p>
          <a:p>
            <a:pPr lvl="1" marL="805815" indent="-228600"/>
            <a:r>
              <a:t> Team development (Week 10)</a:t>
            </a:r>
          </a:p>
        </p:txBody>
      </p:sp>
      <p:sp>
        <p:nvSpPr>
          <p:cNvPr id="327" name="Clean code is not a one-time activity;…"/>
          <p:cNvSpPr txBox="1"/>
          <p:nvPr/>
        </p:nvSpPr>
        <p:spPr>
          <a:xfrm>
            <a:off x="858487" y="4956452"/>
            <a:ext cx="847715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24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Clean code is not a one-time activity; </a:t>
            </a:r>
          </a:p>
          <a:p>
            <a:pPr defTabSz="457200">
              <a:defRPr sz="24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it is a </a:t>
            </a:r>
            <a:r>
              <a:rPr b="1"/>
              <a:t>continuous practice</a:t>
            </a:r>
            <a:r>
              <a:t> throughout the software lifecycle.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/>
            <a:r>
              <a:t>Key Takeaways</a:t>
            </a:r>
          </a:p>
        </p:txBody>
      </p:sp>
      <p:sp>
        <p:nvSpPr>
          <p:cNvPr id="330" name="Google Shape;139;p2"/>
          <p:cNvSpPr txBox="1"/>
          <p:nvPr>
            <p:ph type="body" idx="1"/>
          </p:nvPr>
        </p:nvSpPr>
        <p:spPr>
          <a:xfrm>
            <a:off x="617812" y="2296166"/>
            <a:ext cx="10515601" cy="4029925"/>
          </a:xfrm>
          <a:prstGeom prst="rect">
            <a:avLst/>
          </a:prstGeom>
        </p:spPr>
        <p:txBody>
          <a:bodyPr/>
          <a:lstStyle/>
          <a:p>
            <a:pPr lvl="1" marL="773157" indent="-195942">
              <a:buSzPts val="2400"/>
            </a:pPr>
            <a:r>
              <a:rPr sz="2400"/>
              <a:t> </a:t>
            </a:r>
            <a:r>
              <a:t>Clean code is essential for maintainable software</a:t>
            </a:r>
          </a:p>
          <a:p>
            <a:pPr lvl="1" marL="805815" indent="-228600"/>
            <a:r>
              <a:t> Readability is more important than cleverness</a:t>
            </a:r>
          </a:p>
          <a:p>
            <a:pPr lvl="1" marL="805815" indent="-228600"/>
            <a:r>
              <a:t> Naming and structure greatly affect understanding</a:t>
            </a:r>
          </a:p>
          <a:p>
            <a:pPr lvl="1" marL="805815" indent="-228600"/>
            <a:r>
              <a:t> Code smells signal deeper design problems</a:t>
            </a:r>
          </a:p>
          <a:p>
            <a:pPr lvl="1" marL="805815" indent="-228600"/>
            <a:r>
              <a:t> Clean code is a team responsibility</a:t>
            </a:r>
          </a:p>
          <a:p>
            <a:pPr lvl="1" marL="805815" indent="-228600"/>
            <a:r>
              <a:t> Professional software construction demands clarity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